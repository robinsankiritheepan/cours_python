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Prédiction des cartons jaunes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9DB8E8"/>
                </a:solidFill>
                <a:latin typeface="Calibri"/>
              </a:rPr>
              <a:t>Machine Learning — supervisé &amp; non supervisé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8D6EE"/>
                </a:solidFill>
                <a:latin typeface="Calibri"/>
              </a:rPr>
              <a:t>FIFA World Cup 2026 · Player Performance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Kiritheepan Robinsan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DB8E8"/>
                </a:solidFill>
                <a:latin typeface="Calibri"/>
              </a:rPr>
              <a:t>ENSEA · Barcelona Summer Course 2026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DB8E8"/>
                </a:solidFill>
                <a:latin typeface="Calibri"/>
              </a:rPr>
              <a:t>Cible : yellow_cards  (0 = pas de carton, 1 = carton)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9DB8E8"/>
                </a:solidFill>
                <a:latin typeface="Calibri"/>
              </a:rPr>
              <a:t>CONTEXTE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Données et objectif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A2B4A"/>
                </a:solidFill>
                <a:latin typeface="Calibri"/>
              </a:rPr>
              <a:t>•  Objectif : prédire si un joueur reçoit un carton jaune lors d'un match.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A2B4A"/>
                </a:solidFill>
                <a:latin typeface="Calibri"/>
              </a:rPr>
              <a:t>•  Dataset : 54 600 lignes × 75 colonnes, 1 248 joueurs, 0 valeur manquante.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 Cible yellow_cards déséquilibrée : ~90 % de 0, ~10 % de 1.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A2B4A"/>
                </a:solidFill>
                <a:latin typeface="Calibri"/>
              </a:rPr>
              <a:t>•  Conséquence clé : l'accuracy est trompeuse.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 Un modèle « toujours 0 » atteint déjà ~90 % d'accuracy sans rien apprendre.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 → Métrique retenue : le F1-score (équilibre précision / rappel).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A2B4A"/>
                </a:solidFill>
                <a:latin typeface="Calibri"/>
              </a:rPr>
              <a:t>•  Exploration : données propres, aucune valeur aberrante.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 Corrélation de chaque variable avec la cible quasi nulle (&lt; 0,04).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 → Problème difficile : il faudra des modèles captant des combinaisons de variables.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9DB8E8"/>
                </a:solidFill>
                <a:latin typeface="Calibri"/>
              </a:rPr>
              <a:t>PRÉPARATION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Encodage &amp; séparation train /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A2B4A"/>
                </a:solidFill>
                <a:latin typeface="Calibri"/>
              </a:rPr>
              <a:t>•  Variables exclues : identifiants (player_id, name, match_id, date, stade, ville)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 et forte cardinalité (nationality, club_name, team, opponent_team).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A2B4A"/>
                </a:solidFill>
                <a:latin typeface="Calibri"/>
              </a:rPr>
              <a:t>•  Variables encodées en one-hot : position, preferred_foot, tournament_stage, match_result.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A2B4A"/>
                </a:solidFill>
                <a:latin typeface="Calibri"/>
              </a:rPr>
              <a:t>•  Séparation train / test PAR JOUEUR (et non ligne par ligne).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 Un joueur apparaît ~44 fois → un split naïf mettrait le même joueur des deux côtés.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 C'est une fuite de données : le modèle « reconnaîtrait » le joueur au lieu de généraliser.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 Résultat : 43 726 lignes d'entraînement · 10 874 de test (joueurs inédits).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9DB8E8"/>
                </a:solidFill>
                <a:latin typeface="Calibri"/>
              </a:rPr>
              <a:t>PARTIE 1 — SUPERVISÉ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Trois modèles réglés par GridSearchCV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A2B4A"/>
                </a:solidFill>
                <a:latin typeface="Calibri"/>
              </a:rPr>
              <a:t>•  Arbre de décision · Forêt aléatoire · Gradient Boosting.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A2B4A"/>
                </a:solidFill>
                <a:latin typeface="Calibri"/>
              </a:rPr>
              <a:t>•  GridSearchCV avec scoring = "f1", validation croisée, même jeu de test final.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A2B4A"/>
                </a:solidFill>
                <a:latin typeface="Calibri"/>
              </a:rPr>
              <a:t>•  Gestion du déséquilibre des classes :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 Random Forest → class_weight = "balanced".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 Gradient Boosting → sample_weight équilibré (pas de class_weight natif).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 Sans cette correction, la forêt prédit toujours 0 → F1 = 0.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A2B4A"/>
                </a:solidFill>
                <a:latin typeface="Calibri"/>
              </a:rPr>
              <a:t>•  Astuce : n_jobs = -1 parallélise GridSearchCV sur tous les cœurs.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9DB8E8"/>
                </a:solidFill>
                <a:latin typeface="Calibri"/>
              </a:rPr>
              <a:t>PARTIE 1 — RÉSULTATS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Comparaison des trois modèles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25880"/>
          <a:ext cx="5486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Métrique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Arbre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Rand. Forest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Grad. Boost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2B4A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2B4A"/>
                          </a:solidFill>
                        </a:rPr>
                        <a:t>0,816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2B4A"/>
                          </a:solidFill>
                        </a:rPr>
                        <a:t>0,661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2B4A"/>
                          </a:solidFill>
                        </a:rPr>
                        <a:t>0,643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2B4A"/>
                          </a:solidFill>
                        </a:rPr>
                        <a:t>Précision</a:t>
                      </a:r>
                    </a:p>
                  </a:txBody>
                  <a:tcPr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2B4A"/>
                          </a:solidFill>
                        </a:rPr>
                        <a:t>0,100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2B4A"/>
                          </a:solidFill>
                        </a:rPr>
                        <a:t>0,116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2B4A"/>
                          </a:solidFill>
                        </a:rPr>
                        <a:t>0,111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2B4A"/>
                          </a:solidFill>
                        </a:rPr>
                        <a:t>Rappel</a:t>
                      </a:r>
                    </a:p>
                  </a:txBody>
                  <a:tcPr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2B4A"/>
                          </a:solidFill>
                        </a:rPr>
                        <a:t>0,125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2B4A"/>
                          </a:solidFill>
                        </a:rPr>
                        <a:t>0,407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2B4A"/>
                          </a:solidFill>
                        </a:rPr>
                        <a:t>0,412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2B4A"/>
                          </a:solidFill>
                        </a:rPr>
                        <a:t>F1-score</a:t>
                      </a:r>
                    </a:p>
                  </a:txBody>
                  <a:tcPr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2B4A"/>
                          </a:solidFill>
                        </a:rPr>
                        <a:t>0,111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2B4A"/>
                          </a:solidFill>
                        </a:rPr>
                        <a:t>0,181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2B4A"/>
                          </a:solidFill>
                        </a:rPr>
                        <a:t>0,175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2B4A"/>
                          </a:solidFill>
                        </a:rPr>
                        <a:t>ROC-AUC</a:t>
                      </a:r>
                    </a:p>
                  </a:txBody>
                  <a:tcPr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2B4A"/>
                          </a:solidFill>
                        </a:rPr>
                        <a:t>0,506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2B4A"/>
                          </a:solidFill>
                        </a:rPr>
                        <a:t>0,546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2B4A"/>
                          </a:solidFill>
                        </a:rPr>
                        <a:t>0,543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comparaison_matrices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828800"/>
            <a:ext cx="5486400" cy="1828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4160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Matrices de confusion — diagonale = correct, hors-diagonale = erreurs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480560"/>
            <a:ext cx="111556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Lecture : </a:t>
            </a:r>
            <a:r>
              <a:rPr sz="1500" b="0">
                <a:solidFill>
                  <a:srgbClr val="1A2B4A"/>
                </a:solidFill>
                <a:latin typeface="Calibri"/>
              </a:rPr>
              <a:t>l'arbre a la meilleure accuracy mais ne détecte que 125 cartons / 1000 (rappel 12,5 %). Le rééquilibrage fait monter le rappel de RF et GB à ~40 %. Meilleur F1 : Random Forest (0,181).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9DB8E8"/>
                </a:solidFill>
                <a:latin typeface="Calibri"/>
              </a:rPr>
              <a:t>PARTIE 1 — INTERPRÉTATION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Faux positifs / faux négatifs &amp; ROC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852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2B4A"/>
                </a:solidFill>
                <a:latin typeface="Calibri"/>
              </a:rPr>
              <a:t>•  Faux positif = accuser un joueur à tort · Faux négatif = rater un vrai carton.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–  Ici le faux positif est jugé plus grave (ne pas pénaliser injustement).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–  Random Forest : ~3 098 faux positifs contre 593 faux négatifs.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–  → Le F1 n'est pas aligné sur la priorité métier : viser la précision serait préférable.</a:t>
            </a:r>
          </a:p>
        </p:txBody>
      </p:sp>
      <p:pic>
        <p:nvPicPr>
          <p:cNvPr id="7" name="Picture 6" descr="courbe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640" y="1371600"/>
            <a:ext cx="4907280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56235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AUC 0,506 / 0,546 / 0,543 ≈ 0,5 : discrimination faible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58521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AUC ≈ 0,5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A2B4A"/>
                </a:solidFill>
                <a:latin typeface="Calibri"/>
              </a:rPr>
              <a:t>Les meilleurs modèles distinguent à peine mieux que le hasard. Le gain de F1 vient surtout d'un déplacement du seuil (modèle plus « alarmiste »), pas d'une vraie capacité à séparer les classes.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9DB8E8"/>
                </a:solidFill>
                <a:latin typeface="Calibri"/>
              </a:rPr>
              <a:t>PARTIE 2 — INTERPRÉTABILITÉ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Importance des variables &amp; SHAP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7607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2B4A"/>
                </a:solidFill>
                <a:latin typeface="Calibri"/>
              </a:rPr>
              <a:t>•  Importance native (Gini) : jersey_number en tête… sans aucun sens.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–  Biais de cardinalité : les variables à nombreuses valeurs sont sur-notées.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2B4A"/>
                </a:solidFill>
                <a:latin typeface="Calibri"/>
              </a:rPr>
              <a:t>•  Importance par permutation : tout s'effondre (0,128 → 0,008).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–  → Aucune variable n'a d'effet marquant.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2B4A"/>
                </a:solidFill>
                <a:latin typeface="Calibri"/>
              </a:rPr>
              <a:t>•  SHAP : defensive_contribution / defensive_actions les plus cohérentes.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–  Plus d'engagement défensif → risque un peu plus élevé (échelle très faible).</a:t>
            </a:r>
          </a:p>
        </p:txBody>
      </p:sp>
      <p:pic>
        <p:nvPicPr>
          <p:cNvPr id="7" name="Picture 6" descr="shap_summary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145" y="1280160"/>
            <a:ext cx="4156269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626364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SHAP summary plot (Random Forest)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9DB8E8"/>
                </a:solidFill>
                <a:latin typeface="Calibri"/>
              </a:rPr>
              <a:t>PARTIE 2 — CAS INDIVIDUEL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SHAP waterfall — un joueur</a:t>
            </a:r>
          </a:p>
        </p:txBody>
      </p:sp>
      <p:pic>
        <p:nvPicPr>
          <p:cNvPr id="6" name="Picture 5" descr="shap_waterfall_joueur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284821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1463040"/>
            <a:ext cx="42062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2563EB"/>
                </a:solidFill>
                <a:latin typeface="Calibri"/>
              </a:rPr>
              <a:t>Comment lire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1A2B4A"/>
                </a:solidFill>
                <a:latin typeface="Calibri"/>
              </a:rPr>
              <a:t>On part de la prédiction moyenne (0,5) pour arriver à la prédiction du joueur (0,443).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D4ED8"/>
                </a:solidFill>
                <a:latin typeface="Calibri"/>
              </a:rPr>
              <a:t>Bleu → pousse vers « pas de carton »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C02A2A"/>
                </a:solidFill>
                <a:latin typeface="Calibri"/>
              </a:rPr>
              <a:t>Rouge → pousse vers « carton »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1A2B4A"/>
                </a:solidFill>
                <a:latin typeface="Calibri"/>
              </a:rPr>
              <a:t>Ici : forte créativité de jeu (creativity_score) → risque réduit. total_minutes_tournament pousse légèrement vers le carton, effet négligeable.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9DB8E8"/>
                </a:solidFill>
                <a:latin typeface="Calibri"/>
              </a:rPr>
              <a:t>PARTIE 3 — NON SUPERVISÉ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PCA — réduction de dimension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155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2B4A"/>
                </a:solidFill>
                <a:latin typeface="Calibri"/>
              </a:rPr>
              <a:t>•  La cible n'est pas utilisée ; elle sert seulement à interpréter après coup.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2B4A"/>
                </a:solidFill>
                <a:latin typeface="Calibri"/>
              </a:rPr>
              <a:t>•  2 composantes ne conservent que 30,8 % de l'information (72 variables peu corrélées).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2B4A"/>
                </a:solidFill>
                <a:latin typeface="Calibri"/>
              </a:rPr>
              <a:t>•  Structure visible, en partie liée au poste : les gardiens se détachent nettement.</a:t>
            </a:r>
          </a:p>
        </p:txBody>
      </p:sp>
      <p:pic>
        <p:nvPicPr>
          <p:cNvPr id="7" name="Picture 6" descr="pca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94" y="2651760"/>
            <a:ext cx="4565732" cy="3566160"/>
          </a:xfrm>
          <a:prstGeom prst="rect">
            <a:avLst/>
          </a:prstGeom>
        </p:spPr>
      </p:pic>
      <p:pic>
        <p:nvPicPr>
          <p:cNvPr id="8" name="Picture 7" descr="pca_par_pos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6765" y="2651760"/>
            <a:ext cx="4560150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26364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Projection brute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626364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Colorée par poste (gardiens en rose, isolés)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9DB8E8"/>
                </a:solidFill>
                <a:latin typeface="Calibri"/>
              </a:rPr>
              <a:t>PARTIE 3 —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KMeans vs DBSCAN</a:t>
            </a:r>
          </a:p>
        </p:txBody>
      </p:sp>
      <p:pic>
        <p:nvPicPr>
          <p:cNvPr id="6" name="Picture 5" descr="kmeans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324" y="1371600"/>
            <a:ext cx="4331592" cy="3383280"/>
          </a:xfrm>
          <a:prstGeom prst="rect">
            <a:avLst/>
          </a:prstGeom>
        </p:spPr>
      </p:pic>
      <p:pic>
        <p:nvPicPr>
          <p:cNvPr id="7" name="Picture 6" descr="dbscan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9604" y="1371600"/>
            <a:ext cx="4331592" cy="3383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8006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KMeans (k=4) — silhouette 0,135 (faible)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48006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DBSCAN — 2 clusters nets + bruit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1208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A2B4A"/>
                </a:solidFill>
                <a:latin typeface="Calibri"/>
              </a:rPr>
              <a:t>KMeans ne recouvre pas les postes réels. DBSCAN isole 2 clusters : celui de gauche est enrichi en gardiens (18,2 % vs 6,7 %), mais le taux de cartons y est quasi identique (9,9 % vs 9,6 %) → aucun lien entre structure des données et cartons.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9DB8E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Un résultat cohérent et honnête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2471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2B4A"/>
                </a:solidFill>
                <a:latin typeface="Calibri"/>
              </a:rPr>
              <a:t>•  Toutes les analyses convergent : corrélation nulle, AUC ≈ 0,5, importances minuscules,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–  SHAP faible, clustering sans lien avec la cible.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2B4A"/>
                </a:solidFill>
                <a:latin typeface="Calibri"/>
              </a:rPr>
              <a:t>•  → Les cartons jaunes ne sont pas prédictibles à partir de ces variables.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–  Facteurs probables absents du dataset : décision arbitrale, contexte et tension du match.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2B4A"/>
                </a:solidFill>
                <a:latin typeface="Calibri"/>
              </a:rPr>
              <a:t>•  Ce que le projet démontre malgré tout :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–  le piège de l'accuracy sur classes déséquilibrées ;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–  le rééquilibrage (class_weight / sample_weight) et l'arbitrage précision / rappel ;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–  le biais de cardinalité des importances, corrigé par permutation ;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–  la différence KMeans (convexe) vs DBSCAN (densité).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0644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Un score faible + une démarche rigoureuse = un résultat de data science parfaitement valable.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