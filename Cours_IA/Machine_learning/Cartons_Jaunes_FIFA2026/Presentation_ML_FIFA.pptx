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381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1097280"/>
          </a:xfrm>
          <a:prstGeom prst="rect">
            <a:avLst/>
          </a:prstGeom>
          <a:noFill/>
        </p:spPr>
        <p:txBody>
          <a:bodyPr wrap="square" anchor="t">
            <a:spAutoFit/>
          </a:bodyPr>
          <a:lstStyle/>
          <a:p>
            <a:pPr algn="ctr">
              <a:spcBef>
                <a:spcPts val="0"/>
              </a:spcBef>
              <a:spcAft>
                <a:spcPts val="600"/>
              </a:spcAft>
            </a:pPr>
            <a:r>
              <a:rPr sz="4000" b="1">
                <a:solidFill>
                  <a:srgbClr val="FFFFFF"/>
                </a:solidFill>
                <a:latin typeface="Calibri"/>
              </a:rPr>
              <a:t>Prédiction des cartons jaunes</a:t>
            </a:r>
          </a:p>
        </p:txBody>
      </p:sp>
      <p:sp>
        <p:nvSpPr>
          <p:cNvPr id="5" name="TextBox 4"/>
          <p:cNvSpPr txBox="1"/>
          <p:nvPr/>
        </p:nvSpPr>
        <p:spPr>
          <a:xfrm>
            <a:off x="914400" y="2926080"/>
            <a:ext cx="10332720" cy="548640"/>
          </a:xfrm>
          <a:prstGeom prst="rect">
            <a:avLst/>
          </a:prstGeom>
          <a:noFill/>
        </p:spPr>
        <p:txBody>
          <a:bodyPr wrap="square" anchor="t">
            <a:spAutoFit/>
          </a:bodyPr>
          <a:lstStyle/>
          <a:p>
            <a:pPr algn="ctr">
              <a:spcBef>
                <a:spcPts val="0"/>
              </a:spcBef>
              <a:spcAft>
                <a:spcPts val="600"/>
              </a:spcAft>
            </a:pPr>
            <a:r>
              <a:rPr sz="2000" b="0">
                <a:solidFill>
                  <a:srgbClr val="9DB8E8"/>
                </a:solidFill>
                <a:latin typeface="Calibri"/>
              </a:rPr>
              <a:t>Machine Learning — supervisé &amp; non supervisé</a:t>
            </a:r>
          </a:p>
        </p:txBody>
      </p:sp>
      <p:sp>
        <p:nvSpPr>
          <p:cNvPr id="6" name="TextBox 5"/>
          <p:cNvSpPr txBox="1"/>
          <p:nvPr/>
        </p:nvSpPr>
        <p:spPr>
          <a:xfrm>
            <a:off x="914400" y="3566160"/>
            <a:ext cx="10332720" cy="457200"/>
          </a:xfrm>
          <a:prstGeom prst="rect">
            <a:avLst/>
          </a:prstGeom>
          <a:noFill/>
        </p:spPr>
        <p:txBody>
          <a:bodyPr wrap="square" anchor="t">
            <a:spAutoFit/>
          </a:bodyPr>
          <a:lstStyle/>
          <a:p>
            <a:pPr algn="ctr">
              <a:spcBef>
                <a:spcPts val="0"/>
              </a:spcBef>
              <a:spcAft>
                <a:spcPts val="600"/>
              </a:spcAft>
            </a:pPr>
            <a:r>
              <a:rPr sz="1500" b="0">
                <a:solidFill>
                  <a:srgbClr val="C8D6EE"/>
                </a:solidFill>
                <a:latin typeface="Calibri"/>
              </a:rPr>
              <a:t>FIFA World Cup 2026 · Player Performance Dataset</a:t>
            </a:r>
          </a:p>
        </p:txBody>
      </p:sp>
      <p:sp>
        <p:nvSpPr>
          <p:cNvPr id="7" name="TextBox 6"/>
          <p:cNvSpPr txBox="1"/>
          <p:nvPr/>
        </p:nvSpPr>
        <p:spPr>
          <a:xfrm>
            <a:off x="914400" y="4937760"/>
            <a:ext cx="10332720" cy="914400"/>
          </a:xfrm>
          <a:prstGeom prst="rect">
            <a:avLst/>
          </a:prstGeom>
          <a:noFill/>
        </p:spPr>
        <p:txBody>
          <a:bodyPr wrap="square" anchor="t">
            <a:spAutoFit/>
          </a:bodyPr>
          <a:lstStyle/>
          <a:p>
            <a:pPr algn="ctr">
              <a:spcBef>
                <a:spcPts val="0"/>
              </a:spcBef>
              <a:spcAft>
                <a:spcPts val="600"/>
              </a:spcAft>
            </a:pPr>
            <a:r>
              <a:rPr sz="1600" b="1">
                <a:solidFill>
                  <a:srgbClr val="FFFFFF"/>
                </a:solidFill>
                <a:latin typeface="Calibri"/>
              </a:rPr>
              <a:t>Kiritheepan Robinsan</a:t>
            </a:r>
          </a:p>
          <a:p>
            <a:pPr algn="ctr">
              <a:spcBef>
                <a:spcPts val="0"/>
              </a:spcBef>
              <a:spcAft>
                <a:spcPts val="600"/>
              </a:spcAft>
            </a:pPr>
            <a:r>
              <a:rPr sz="1300" b="0">
                <a:solidFill>
                  <a:srgbClr val="9DB8E8"/>
                </a:solidFill>
                <a:latin typeface="Calibri"/>
              </a:rPr>
              <a:t>ENSEA · Barcelona Summer Course 2026</a:t>
            </a:r>
          </a:p>
          <a:p>
            <a:pPr algn="ctr">
              <a:spcBef>
                <a:spcPts val="0"/>
              </a:spcBef>
              <a:spcAft>
                <a:spcPts val="600"/>
              </a:spcAft>
            </a:pPr>
            <a:r>
              <a:rPr sz="1300" b="0">
                <a:solidFill>
                  <a:srgbClr val="9DB8E8"/>
                </a:solidFill>
                <a:latin typeface="Calibri"/>
              </a:rPr>
              <a:t>Cible : yellow_cards  (0 = pas de carton, 1 = carton)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CONTEXTE</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Un jeu de données très déséquilibré</a:t>
            </a:r>
          </a:p>
        </p:txBody>
      </p:sp>
      <p:pic>
        <p:nvPicPr>
          <p:cNvPr id="6" name="Picture 5" descr="repartition_classes.png"/>
          <p:cNvPicPr>
            <a:picLocks noChangeAspect="1"/>
          </p:cNvPicPr>
          <p:nvPr/>
        </p:nvPicPr>
        <p:blipFill>
          <a:blip r:embed="rId2"/>
          <a:stretch>
            <a:fillRect/>
          </a:stretch>
        </p:blipFill>
        <p:spPr>
          <a:xfrm>
            <a:off x="640080" y="1371600"/>
            <a:ext cx="5669280" cy="3748742"/>
          </a:xfrm>
          <a:prstGeom prst="rect">
            <a:avLst/>
          </a:prstGeom>
        </p:spPr>
      </p:pic>
      <p:sp>
        <p:nvSpPr>
          <p:cNvPr id="7" name="TextBox 6"/>
          <p:cNvSpPr txBox="1"/>
          <p:nvPr/>
        </p:nvSpPr>
        <p:spPr>
          <a:xfrm>
            <a:off x="6675120" y="1554480"/>
            <a:ext cx="4937760" cy="4572000"/>
          </a:xfrm>
          <a:prstGeom prst="rect">
            <a:avLst/>
          </a:prstGeom>
          <a:noFill/>
        </p:spPr>
        <p:txBody>
          <a:bodyPr wrap="square" anchor="t">
            <a:spAutoFit/>
          </a:bodyPr>
          <a:lstStyle/>
          <a:p>
            <a:pPr algn="l">
              <a:spcBef>
                <a:spcPts val="0"/>
              </a:spcBef>
              <a:spcAft>
                <a:spcPts val="1100"/>
              </a:spcAft>
            </a:pPr>
            <a:r>
              <a:rPr sz="1800" b="1">
                <a:solidFill>
                  <a:srgbClr val="2563EB"/>
                </a:solidFill>
                <a:latin typeface="Calibri"/>
              </a:rPr>
              <a:t>Le fil rouge du projet</a:t>
            </a:r>
          </a:p>
          <a:p>
            <a:pPr algn="l">
              <a:spcBef>
                <a:spcPts val="0"/>
              </a:spcBef>
              <a:spcAft>
                <a:spcPts val="1100"/>
              </a:spcAft>
            </a:pPr>
            <a:r>
              <a:rPr sz="1500" b="0">
                <a:solidFill>
                  <a:srgbClr val="1A2B4A"/>
                </a:solidFill>
                <a:latin typeface="Calibri"/>
              </a:rPr>
              <a:t>La cible yellow_cards vaut 1 dans seulement 9,8 % des cas.</a:t>
            </a:r>
          </a:p>
          <a:p>
            <a:pPr algn="l">
              <a:spcBef>
                <a:spcPts val="0"/>
              </a:spcBef>
              <a:spcAft>
                <a:spcPts val="1100"/>
              </a:spcAft>
            </a:pPr>
            <a:r>
              <a:rPr sz="1500" b="1">
                <a:solidFill>
                  <a:srgbClr val="1A2B4A"/>
                </a:solidFill>
                <a:latin typeface="Calibri"/>
              </a:rPr>
              <a:t>Conséquence : l'accuracy est trompeuse.</a:t>
            </a:r>
          </a:p>
          <a:p>
            <a:pPr algn="l">
              <a:spcBef>
                <a:spcPts val="0"/>
              </a:spcBef>
              <a:spcAft>
                <a:spcPts val="1100"/>
              </a:spcAft>
            </a:pPr>
            <a:r>
              <a:rPr sz="1500" b="0">
                <a:solidFill>
                  <a:srgbClr val="1A2B4A"/>
                </a:solidFill>
                <a:latin typeface="Calibri"/>
              </a:rPr>
              <a:t>Un modèle qui prédirait toujours « pas de carton » obtiendrait déjà 90,2 % d'accuracy — sans rien apprendre.</a:t>
            </a:r>
          </a:p>
          <a:p>
            <a:pPr algn="l">
              <a:spcBef>
                <a:spcPts val="0"/>
              </a:spcBef>
              <a:spcAft>
                <a:spcPts val="1100"/>
              </a:spcAft>
            </a:pPr>
            <a:r>
              <a:rPr sz="1500" b="1">
                <a:solidFill>
                  <a:srgbClr val="2563EB"/>
                </a:solidFill>
                <a:latin typeface="Calibri"/>
              </a:rPr>
              <a:t>→ On raisonne donc en précision / rappel / F1 tout au long du projet.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EXPLORATION</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Aucune variable n'est corrélée à la cible</a:t>
            </a:r>
          </a:p>
        </p:txBody>
      </p:sp>
      <p:pic>
        <p:nvPicPr>
          <p:cNvPr id="6" name="Picture 5" descr="correlations_cible.png"/>
          <p:cNvPicPr>
            <a:picLocks noChangeAspect="1"/>
          </p:cNvPicPr>
          <p:nvPr/>
        </p:nvPicPr>
        <p:blipFill>
          <a:blip r:embed="rId2"/>
          <a:stretch>
            <a:fillRect/>
          </a:stretch>
        </p:blipFill>
        <p:spPr>
          <a:xfrm>
            <a:off x="548640" y="1325880"/>
            <a:ext cx="6583680" cy="4828032"/>
          </a:xfrm>
          <a:prstGeom prst="rect">
            <a:avLst/>
          </a:prstGeom>
        </p:spPr>
      </p:pic>
      <p:sp>
        <p:nvSpPr>
          <p:cNvPr id="7" name="TextBox 6"/>
          <p:cNvSpPr txBox="1"/>
          <p:nvPr/>
        </p:nvSpPr>
        <p:spPr>
          <a:xfrm>
            <a:off x="7406640" y="1554480"/>
            <a:ext cx="4297680" cy="4572000"/>
          </a:xfrm>
          <a:prstGeom prst="rect">
            <a:avLst/>
          </a:prstGeom>
          <a:noFill/>
        </p:spPr>
        <p:txBody>
          <a:bodyPr wrap="square" anchor="t">
            <a:spAutoFit/>
          </a:bodyPr>
          <a:lstStyle/>
          <a:p>
            <a:pPr algn="l">
              <a:spcBef>
                <a:spcPts val="0"/>
              </a:spcBef>
              <a:spcAft>
                <a:spcPts val="1100"/>
              </a:spcAft>
            </a:pPr>
            <a:r>
              <a:rPr sz="1800" b="1">
                <a:solidFill>
                  <a:srgbClr val="2563EB"/>
                </a:solidFill>
                <a:latin typeface="Calibri"/>
              </a:rPr>
              <a:t>Ce que ça dit</a:t>
            </a:r>
          </a:p>
          <a:p>
            <a:pPr algn="l">
              <a:spcBef>
                <a:spcPts val="0"/>
              </a:spcBef>
              <a:spcAft>
                <a:spcPts val="1100"/>
              </a:spcAft>
            </a:pPr>
            <a:r>
              <a:rPr sz="1500" b="0">
                <a:solidFill>
                  <a:srgbClr val="1A2B4A"/>
                </a:solidFill>
                <a:latin typeface="Calibri"/>
              </a:rPr>
              <a:t>Toutes les corrélations restent sous |0,04| : aucun lien linéaire exploitable.</a:t>
            </a:r>
          </a:p>
          <a:p>
            <a:pPr algn="l">
              <a:spcBef>
                <a:spcPts val="0"/>
              </a:spcBef>
              <a:spcAft>
                <a:spcPts val="1100"/>
              </a:spcAft>
            </a:pPr>
            <a:r>
              <a:rPr sz="1500" b="0">
                <a:solidFill>
                  <a:srgbClr val="1A2B4A"/>
                </a:solidFill>
                <a:latin typeface="Calibri"/>
              </a:rPr>
              <a:t>Mais une cohérence apparaît : les variables défensives (dégagements, tacles, interceptions) sont les seules du côté positif.</a:t>
            </a:r>
          </a:p>
          <a:p>
            <a:pPr algn="l">
              <a:spcBef>
                <a:spcPts val="0"/>
              </a:spcBef>
              <a:spcAft>
                <a:spcPts val="1100"/>
              </a:spcAft>
            </a:pPr>
            <a:r>
              <a:rPr sz="1500" b="0">
                <a:solidFill>
                  <a:srgbClr val="1A2B4A"/>
                </a:solidFill>
                <a:latin typeface="Calibri"/>
              </a:rPr>
              <a:t>Ça ne condamne pas le projet : la corrélation ne voit que les liens simples. D'où le recours aux arbres, qui captent des combinaisons.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PRÉPARATION</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Encodage &amp; séparation train / test</a:t>
            </a:r>
          </a:p>
        </p:txBody>
      </p:sp>
      <p:sp>
        <p:nvSpPr>
          <p:cNvPr id="6" name="TextBox 5"/>
          <p:cNvSpPr txBox="1"/>
          <p:nvPr/>
        </p:nvSpPr>
        <p:spPr>
          <a:xfrm>
            <a:off x="640080" y="1371600"/>
            <a:ext cx="10972800" cy="4937760"/>
          </a:xfrm>
          <a:prstGeom prst="rect">
            <a:avLst/>
          </a:prstGeom>
          <a:noFill/>
        </p:spPr>
        <p:txBody>
          <a:bodyPr wrap="square" anchor="t">
            <a:spAutoFit/>
          </a:bodyPr>
          <a:lstStyle/>
          <a:p>
            <a:pPr algn="l">
              <a:spcBef>
                <a:spcPts val="0"/>
              </a:spcBef>
              <a:spcAft>
                <a:spcPts val="900"/>
              </a:spcAft>
            </a:pPr>
            <a:r>
              <a:rPr sz="1600" b="0">
                <a:solidFill>
                  <a:srgbClr val="1A2B4A"/>
                </a:solidFill>
                <a:latin typeface="Calibri"/>
              </a:rPr>
              <a:t>•  Exclus : identifiants (player_id, name, match_id, date, stade, ville)</a:t>
            </a:r>
          </a:p>
          <a:p>
            <a:pPr algn="l">
              <a:spcBef>
                <a:spcPts val="0"/>
              </a:spcBef>
              <a:spcAft>
                <a:spcPts val="900"/>
              </a:spcAft>
            </a:pPr>
            <a:r>
              <a:rPr sz="1450" b="0">
                <a:solidFill>
                  <a:srgbClr val="555555"/>
                </a:solidFill>
                <a:latin typeface="Calibri"/>
              </a:rPr>
              <a:t>–  et forte cardinalité : nationality (48), club_name (122), team, opponent_team.</a:t>
            </a:r>
          </a:p>
          <a:p>
            <a:pPr algn="l">
              <a:spcBef>
                <a:spcPts val="0"/>
              </a:spcBef>
              <a:spcAft>
                <a:spcPts val="900"/>
              </a:spcAft>
            </a:pPr>
            <a:r>
              <a:rPr sz="1600" b="0">
                <a:solidFill>
                  <a:srgbClr val="1A2B4A"/>
                </a:solidFill>
                <a:latin typeface="Calibri"/>
              </a:rPr>
              <a:t>•  Encodés en one-hot : position, preferred_foot, tournament_stage, match_result.</a:t>
            </a:r>
          </a:p>
          <a:p>
            <a:pPr algn="l">
              <a:spcBef>
                <a:spcPts val="0"/>
              </a:spcBef>
              <a:spcAft>
                <a:spcPts val="900"/>
              </a:spcAft>
            </a:pPr>
            <a:r>
              <a:rPr sz="1600" b="0">
                <a:solidFill>
                  <a:srgbClr val="1A2B4A"/>
                </a:solidFill>
                <a:latin typeface="Calibri"/>
              </a:rPr>
              <a:t>•  Séparation train / test PAR JOUEUR — pas ligne par ligne.</a:t>
            </a:r>
          </a:p>
          <a:p>
            <a:pPr algn="l">
              <a:spcBef>
                <a:spcPts val="0"/>
              </a:spcBef>
              <a:spcAft>
                <a:spcPts val="900"/>
              </a:spcAft>
            </a:pPr>
            <a:r>
              <a:rPr sz="1450" b="0">
                <a:solidFill>
                  <a:srgbClr val="555555"/>
                </a:solidFill>
                <a:latin typeface="Calibri"/>
              </a:rPr>
              <a:t>–  Un joueur apparaît ~44 fois : un split naïf le mettrait des deux côtés.</a:t>
            </a:r>
          </a:p>
          <a:p>
            <a:pPr algn="l">
              <a:spcBef>
                <a:spcPts val="0"/>
              </a:spcBef>
              <a:spcAft>
                <a:spcPts val="900"/>
              </a:spcAft>
            </a:pPr>
            <a:r>
              <a:rPr sz="1450" b="0">
                <a:solidFill>
                  <a:srgbClr val="555555"/>
                </a:solidFill>
                <a:latin typeface="Calibri"/>
              </a:rPr>
              <a:t>–  C'est une fuite de données — le modèle le reconnaîtrait au lieu de généraliser.</a:t>
            </a:r>
          </a:p>
          <a:p>
            <a:pPr algn="l">
              <a:spcBef>
                <a:spcPts val="0"/>
              </a:spcBef>
              <a:spcAft>
                <a:spcPts val="900"/>
              </a:spcAft>
            </a:pPr>
            <a:r>
              <a:rPr sz="1450" b="0">
                <a:solidFill>
                  <a:srgbClr val="555555"/>
                </a:solidFill>
                <a:latin typeface="Calibri"/>
              </a:rPr>
              <a:t>–  Résultat : 43 726 / 10 874 lignes, et zéro joueur en commun (vérifié).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1 — SUPERVISÉ</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Trois modèles réglés par GridSearchCV</a:t>
            </a:r>
          </a:p>
        </p:txBody>
      </p:sp>
      <p:sp>
        <p:nvSpPr>
          <p:cNvPr id="6" name="TextBox 5"/>
          <p:cNvSpPr txBox="1"/>
          <p:nvPr/>
        </p:nvSpPr>
        <p:spPr>
          <a:xfrm>
            <a:off x="640080" y="1371600"/>
            <a:ext cx="10972800" cy="4937760"/>
          </a:xfrm>
          <a:prstGeom prst="rect">
            <a:avLst/>
          </a:prstGeom>
          <a:noFill/>
        </p:spPr>
        <p:txBody>
          <a:bodyPr wrap="square" anchor="t">
            <a:spAutoFit/>
          </a:bodyPr>
          <a:lstStyle/>
          <a:p>
            <a:pPr algn="l">
              <a:spcBef>
                <a:spcPts val="0"/>
              </a:spcBef>
              <a:spcAft>
                <a:spcPts val="900"/>
              </a:spcAft>
            </a:pPr>
            <a:r>
              <a:rPr sz="1600" b="0">
                <a:solidFill>
                  <a:srgbClr val="1A2B4A"/>
                </a:solidFill>
                <a:latin typeface="Calibri"/>
              </a:rPr>
              <a:t>•  Arbre de décision · Forêt aléatoire · Gradient Boosting.</a:t>
            </a:r>
          </a:p>
          <a:p>
            <a:pPr algn="l">
              <a:spcBef>
                <a:spcPts val="0"/>
              </a:spcBef>
              <a:spcAft>
                <a:spcPts val="900"/>
              </a:spcAft>
            </a:pPr>
            <a:r>
              <a:rPr sz="1600" b="0">
                <a:solidFill>
                  <a:srgbClr val="1A2B4A"/>
                </a:solidFill>
                <a:latin typeface="Calibri"/>
              </a:rPr>
              <a:t>•  GridSearchCV avec scoring = "f1", validation croisée, même jeu de test final.</a:t>
            </a:r>
          </a:p>
          <a:p>
            <a:pPr algn="l">
              <a:spcBef>
                <a:spcPts val="0"/>
              </a:spcBef>
              <a:spcAft>
                <a:spcPts val="900"/>
              </a:spcAft>
            </a:pPr>
            <a:r>
              <a:rPr sz="1600" b="0">
                <a:solidFill>
                  <a:srgbClr val="1A2B4A"/>
                </a:solidFill>
                <a:latin typeface="Calibri"/>
              </a:rPr>
              <a:t>•  Le piège du déséquilibre, concrètement :</a:t>
            </a:r>
          </a:p>
          <a:p>
            <a:pPr algn="l">
              <a:spcBef>
                <a:spcPts val="0"/>
              </a:spcBef>
              <a:spcAft>
                <a:spcPts val="900"/>
              </a:spcAft>
            </a:pPr>
            <a:r>
              <a:rPr sz="1450" b="0">
                <a:solidFill>
                  <a:srgbClr val="555555"/>
                </a:solidFill>
                <a:latin typeface="Calibri"/>
              </a:rPr>
              <a:t>–  sans correction, la forêt prédit toujours 0 → F1 = 0.</a:t>
            </a:r>
          </a:p>
          <a:p>
            <a:pPr algn="l">
              <a:spcBef>
                <a:spcPts val="0"/>
              </a:spcBef>
              <a:spcAft>
                <a:spcPts val="900"/>
              </a:spcAft>
            </a:pPr>
            <a:r>
              <a:rPr sz="1450" b="0">
                <a:solidFill>
                  <a:srgbClr val="555555"/>
                </a:solidFill>
                <a:latin typeface="Calibri"/>
              </a:rPr>
              <a:t>–  Random Forest → class_weight = "balanced".</a:t>
            </a:r>
          </a:p>
          <a:p>
            <a:pPr algn="l">
              <a:spcBef>
                <a:spcPts val="0"/>
              </a:spcBef>
              <a:spcAft>
                <a:spcPts val="900"/>
              </a:spcAft>
            </a:pPr>
            <a:r>
              <a:rPr sz="1450" b="0">
                <a:solidFill>
                  <a:srgbClr val="555555"/>
                </a:solidFill>
                <a:latin typeface="Calibri"/>
              </a:rPr>
              <a:t>–  Gradient Boosting → sample_weight équilibré (pas de class_weight natif).</a:t>
            </a:r>
          </a:p>
          <a:p>
            <a:pPr algn="l">
              <a:spcBef>
                <a:spcPts val="0"/>
              </a:spcBef>
              <a:spcAft>
                <a:spcPts val="900"/>
              </a:spcAft>
            </a:pPr>
            <a:r>
              <a:rPr sz="1450" b="0">
                <a:solidFill>
                  <a:srgbClr val="555555"/>
                </a:solidFill>
                <a:latin typeface="Calibri"/>
              </a:rPr>
              <a:t>–  Les erreurs sur la classe rare pèsent alors ~9× plus.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1 — RÉGLAGE</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Meilleurs hyperparamètres trouvés</a:t>
            </a:r>
          </a:p>
        </p:txBody>
      </p:sp>
      <p:graphicFrame>
        <p:nvGraphicFramePr>
          <p:cNvPr id="6" name="Table 5"/>
          <p:cNvGraphicFramePr>
            <a:graphicFrameLocks noGrp="1"/>
          </p:cNvGraphicFramePr>
          <p:nvPr/>
        </p:nvGraphicFramePr>
        <p:xfrm>
          <a:off x="548640" y="1463040"/>
          <a:ext cx="11064240" cy="2651760"/>
        </p:xfrm>
        <a:graphic>
          <a:graphicData uri="http://schemas.openxmlformats.org/drawingml/2006/table">
            <a:tbl>
              <a:tblPr firstRow="1" bandRow="1">
                <a:tableStyleId>{5C22544A-7EE6-4342-B048-85BDC9FD1C3A}</a:tableStyleId>
              </a:tblPr>
              <a:tblGrid>
                <a:gridCol w="3688080"/>
                <a:gridCol w="3688080"/>
                <a:gridCol w="3688080"/>
              </a:tblGrid>
              <a:tr h="662940">
                <a:tc>
                  <a:txBody>
                    <a:bodyPr/>
                    <a:lstStyle/>
                    <a:p>
                      <a:pPr algn="ctr"/>
                      <a:r>
                        <a:rPr sz="1300" b="1">
                          <a:solidFill>
                            <a:srgbClr val="FFFFFF"/>
                          </a:solidFill>
                        </a:rPr>
                        <a:t>Modèle</a:t>
                      </a:r>
                    </a:p>
                  </a:txBody>
                  <a:tcPr>
                    <a:solidFill>
                      <a:srgbClr val="1A2B4A"/>
                    </a:solidFill>
                  </a:tcPr>
                </a:tc>
                <a:tc>
                  <a:txBody>
                    <a:bodyPr/>
                    <a:lstStyle/>
                    <a:p>
                      <a:pPr algn="ctr"/>
                      <a:r>
                        <a:rPr sz="1300" b="1">
                          <a:solidFill>
                            <a:srgbClr val="FFFFFF"/>
                          </a:solidFill>
                        </a:rPr>
                        <a:t>Meilleurs hyperparamètres</a:t>
                      </a:r>
                    </a:p>
                  </a:txBody>
                  <a:tcPr>
                    <a:solidFill>
                      <a:srgbClr val="1A2B4A"/>
                    </a:solidFill>
                  </a:tcPr>
                </a:tc>
                <a:tc>
                  <a:txBody>
                    <a:bodyPr/>
                    <a:lstStyle/>
                    <a:p>
                      <a:pPr algn="ctr"/>
                      <a:r>
                        <a:rPr sz="1300" b="1">
                          <a:solidFill>
                            <a:srgbClr val="FFFFFF"/>
                          </a:solidFill>
                        </a:rPr>
                        <a:t>F1 (validation croisée)</a:t>
                      </a:r>
                    </a:p>
                  </a:txBody>
                  <a:tcPr>
                    <a:solidFill>
                      <a:srgbClr val="1A2B4A"/>
                    </a:solidFill>
                  </a:tcPr>
                </a:tc>
              </a:tr>
              <a:tr h="662940">
                <a:tc>
                  <a:txBody>
                    <a:bodyPr/>
                    <a:lstStyle/>
                    <a:p>
                      <a:pPr algn="l"/>
                      <a:r>
                        <a:rPr sz="1150" b="1">
                          <a:solidFill>
                            <a:srgbClr val="1A2B4A"/>
                          </a:solidFill>
                        </a:rPr>
                        <a:t>Arbre de décision</a:t>
                      </a:r>
                    </a:p>
                  </a:txBody>
                  <a:tcPr>
                    <a:solidFill>
                      <a:srgbClr val="EEF2F9"/>
                    </a:solidFill>
                  </a:tcPr>
                </a:tc>
                <a:tc>
                  <a:txBody>
                    <a:bodyPr/>
                    <a:lstStyle/>
                    <a:p>
                      <a:pPr algn="l"/>
                      <a:r>
                        <a:rPr sz="1150" b="0">
                          <a:solidFill>
                            <a:srgbClr val="1A2B4A"/>
                          </a:solidFill>
                        </a:rPr>
                        <a:t>max_depth = None · min_samples_leaf = 1</a:t>
                      </a:r>
                    </a:p>
                  </a:txBody>
                  <a:tcPr>
                    <a:solidFill>
                      <a:srgbClr val="FFFFFF"/>
                    </a:solidFill>
                  </a:tcPr>
                </a:tc>
                <a:tc>
                  <a:txBody>
                    <a:bodyPr/>
                    <a:lstStyle/>
                    <a:p>
                      <a:pPr algn="ctr"/>
                      <a:r>
                        <a:rPr sz="1150" b="0">
                          <a:solidFill>
                            <a:srgbClr val="1A2B4A"/>
                          </a:solidFill>
                        </a:rPr>
                        <a:t>0,113</a:t>
                      </a:r>
                    </a:p>
                  </a:txBody>
                  <a:tcPr>
                    <a:solidFill>
                      <a:srgbClr val="FFFFFF"/>
                    </a:solidFill>
                  </a:tcPr>
                </a:tc>
              </a:tr>
              <a:tr h="662940">
                <a:tc>
                  <a:txBody>
                    <a:bodyPr/>
                    <a:lstStyle/>
                    <a:p>
                      <a:pPr algn="l"/>
                      <a:r>
                        <a:rPr sz="1150" b="1">
                          <a:solidFill>
                            <a:srgbClr val="1A2B4A"/>
                          </a:solidFill>
                        </a:rPr>
                        <a:t>Random Forest</a:t>
                      </a:r>
                    </a:p>
                  </a:txBody>
                  <a:tcPr>
                    <a:solidFill>
                      <a:srgbClr val="EEF2F9"/>
                    </a:solidFill>
                  </a:tcPr>
                </a:tc>
                <a:tc>
                  <a:txBody>
                    <a:bodyPr/>
                    <a:lstStyle/>
                    <a:p>
                      <a:pPr algn="l"/>
                      <a:r>
                        <a:rPr sz="1150" b="0">
                          <a:solidFill>
                            <a:srgbClr val="1A2B4A"/>
                          </a:solidFill>
                        </a:rPr>
                        <a:t>n_estimators = 100 · max_depth = 5 · min_samples_leaf = 1 · class_weight = balanced</a:t>
                      </a:r>
                    </a:p>
                  </a:txBody>
                  <a:tcPr>
                    <a:solidFill>
                      <a:srgbClr val="FFFFFF"/>
                    </a:solidFill>
                  </a:tcPr>
                </a:tc>
                <a:tc>
                  <a:txBody>
                    <a:bodyPr/>
                    <a:lstStyle/>
                    <a:p>
                      <a:pPr algn="ctr"/>
                      <a:r>
                        <a:rPr sz="1150" b="0">
                          <a:solidFill>
                            <a:srgbClr val="1A2B4A"/>
                          </a:solidFill>
                        </a:rPr>
                        <a:t>0,185</a:t>
                      </a:r>
                    </a:p>
                  </a:txBody>
                  <a:tcPr>
                    <a:solidFill>
                      <a:srgbClr val="FFFFFF"/>
                    </a:solidFill>
                  </a:tcPr>
                </a:tc>
              </a:tr>
              <a:tr h="662940">
                <a:tc>
                  <a:txBody>
                    <a:bodyPr/>
                    <a:lstStyle/>
                    <a:p>
                      <a:pPr algn="l"/>
                      <a:r>
                        <a:rPr sz="1150" b="1">
                          <a:solidFill>
                            <a:srgbClr val="1A2B4A"/>
                          </a:solidFill>
                        </a:rPr>
                        <a:t>Gradient Boosting</a:t>
                      </a:r>
                    </a:p>
                  </a:txBody>
                  <a:tcPr>
                    <a:solidFill>
                      <a:srgbClr val="EEF2F9"/>
                    </a:solidFill>
                  </a:tcPr>
                </a:tc>
                <a:tc>
                  <a:txBody>
                    <a:bodyPr/>
                    <a:lstStyle/>
                    <a:p>
                      <a:pPr algn="l"/>
                      <a:r>
                        <a:rPr sz="1150" b="0">
                          <a:solidFill>
                            <a:srgbClr val="1A2B4A"/>
                          </a:solidFill>
                        </a:rPr>
                        <a:t>n_estimators = 100 · learning_rate = 0,05 · max_depth = 3 · sample_weight équilibré</a:t>
                      </a:r>
                    </a:p>
                  </a:txBody>
                  <a:tcPr>
                    <a:solidFill>
                      <a:srgbClr val="FFFFFF"/>
                    </a:solidFill>
                  </a:tcPr>
                </a:tc>
                <a:tc>
                  <a:txBody>
                    <a:bodyPr/>
                    <a:lstStyle/>
                    <a:p>
                      <a:pPr algn="ctr"/>
                      <a:r>
                        <a:rPr sz="1150" b="0">
                          <a:solidFill>
                            <a:srgbClr val="1A2B4A"/>
                          </a:solidFill>
                        </a:rPr>
                        <a:t>0,479</a:t>
                      </a:r>
                    </a:p>
                  </a:txBody>
                  <a:tcPr>
                    <a:solidFill>
                      <a:srgbClr val="FFFFFF"/>
                    </a:solidFill>
                  </a:tcPr>
                </a:tc>
              </a:tr>
            </a:tbl>
          </a:graphicData>
        </a:graphic>
      </p:graphicFrame>
      <p:sp>
        <p:nvSpPr>
          <p:cNvPr id="7" name="TextBox 6"/>
          <p:cNvSpPr txBox="1"/>
          <p:nvPr/>
        </p:nvSpPr>
        <p:spPr>
          <a:xfrm>
            <a:off x="548640" y="4389120"/>
            <a:ext cx="11064240" cy="1828800"/>
          </a:xfrm>
          <a:prstGeom prst="rect">
            <a:avLst/>
          </a:prstGeom>
          <a:noFill/>
        </p:spPr>
        <p:txBody>
          <a:bodyPr wrap="square" anchor="t">
            <a:spAutoFit/>
          </a:bodyPr>
          <a:lstStyle/>
          <a:p>
            <a:pPr algn="l">
              <a:spcBef>
                <a:spcPts val="0"/>
              </a:spcBef>
              <a:spcAft>
                <a:spcPts val="400"/>
              </a:spcAft>
            </a:pPr>
            <a:r>
              <a:rPr sz="1500" b="1">
                <a:solidFill>
                  <a:srgbClr val="2563EB"/>
                </a:solidFill>
                <a:latin typeface="Calibri"/>
              </a:rPr>
              <a:t>Attention au F1 de 0,479 : </a:t>
            </a:r>
            <a:r>
              <a:rPr sz="1500" b="0">
                <a:solidFill>
                  <a:srgbClr val="1A2B4A"/>
                </a:solidFill>
                <a:latin typeface="Calibri"/>
              </a:rPr>
              <a:t>c'est le score de validation croisée du boosting, bien supérieur à son F1 de test (0,175). GridSearchCV découpe ses plis ligne par ligne — un même joueur peut donc se retrouver des deux côtés pendant la validation interne, ce qui gonfle le score. Le test final, séparé par joueur, est plus sévère et donne la mesure honnête.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1 — RÉSULTATS</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Comparaison des trois modèles</a:t>
            </a:r>
          </a:p>
        </p:txBody>
      </p:sp>
      <p:graphicFrame>
        <p:nvGraphicFramePr>
          <p:cNvPr id="6" name="Table 5"/>
          <p:cNvGraphicFramePr>
            <a:graphicFrameLocks noGrp="1"/>
          </p:cNvGraphicFramePr>
          <p:nvPr/>
        </p:nvGraphicFramePr>
        <p:xfrm>
          <a:off x="457200" y="1371600"/>
          <a:ext cx="5120640" cy="2834640"/>
        </p:xfrm>
        <a:graphic>
          <a:graphicData uri="http://schemas.openxmlformats.org/drawingml/2006/table">
            <a:tbl>
              <a:tblPr firstRow="1" bandRow="1">
                <a:tableStyleId>{5C22544A-7EE6-4342-B048-85BDC9FD1C3A}</a:tableStyleId>
              </a:tblPr>
              <a:tblGrid>
                <a:gridCol w="1280160"/>
                <a:gridCol w="1280160"/>
                <a:gridCol w="1280160"/>
                <a:gridCol w="1280160"/>
              </a:tblGrid>
              <a:tr h="472440">
                <a:tc>
                  <a:txBody>
                    <a:bodyPr/>
                    <a:lstStyle/>
                    <a:p>
                      <a:pPr algn="ctr"/>
                      <a:r>
                        <a:rPr sz="1250" b="1">
                          <a:solidFill>
                            <a:srgbClr val="FFFFFF"/>
                          </a:solidFill>
                        </a:rPr>
                        <a:t>Métrique</a:t>
                      </a:r>
                    </a:p>
                  </a:txBody>
                  <a:tcPr>
                    <a:solidFill>
                      <a:srgbClr val="1A2B4A"/>
                    </a:solidFill>
                  </a:tcPr>
                </a:tc>
                <a:tc>
                  <a:txBody>
                    <a:bodyPr/>
                    <a:lstStyle/>
                    <a:p>
                      <a:pPr algn="ctr"/>
                      <a:r>
                        <a:rPr sz="1250" b="1">
                          <a:solidFill>
                            <a:srgbClr val="FFFFFF"/>
                          </a:solidFill>
                        </a:rPr>
                        <a:t>Arbre</a:t>
                      </a:r>
                    </a:p>
                  </a:txBody>
                  <a:tcPr>
                    <a:solidFill>
                      <a:srgbClr val="1A2B4A"/>
                    </a:solidFill>
                  </a:tcPr>
                </a:tc>
                <a:tc>
                  <a:txBody>
                    <a:bodyPr/>
                    <a:lstStyle/>
                    <a:p>
                      <a:pPr algn="ctr"/>
                      <a:r>
                        <a:rPr sz="1250" b="1">
                          <a:solidFill>
                            <a:srgbClr val="FFFFFF"/>
                          </a:solidFill>
                        </a:rPr>
                        <a:t>Rand. Forest</a:t>
                      </a:r>
                    </a:p>
                  </a:txBody>
                  <a:tcPr>
                    <a:solidFill>
                      <a:srgbClr val="1A2B4A"/>
                    </a:solidFill>
                  </a:tcPr>
                </a:tc>
                <a:tc>
                  <a:txBody>
                    <a:bodyPr/>
                    <a:lstStyle/>
                    <a:p>
                      <a:pPr algn="ctr"/>
                      <a:r>
                        <a:rPr sz="1250" b="1">
                          <a:solidFill>
                            <a:srgbClr val="FFFFFF"/>
                          </a:solidFill>
                        </a:rPr>
                        <a:t>Grad. Boost</a:t>
                      </a:r>
                    </a:p>
                  </a:txBody>
                  <a:tcPr>
                    <a:solidFill>
                      <a:srgbClr val="1A2B4A"/>
                    </a:solidFill>
                  </a:tcPr>
                </a:tc>
              </a:tr>
              <a:tr h="472440">
                <a:tc>
                  <a:txBody>
                    <a:bodyPr/>
                    <a:lstStyle/>
                    <a:p>
                      <a:pPr algn="l"/>
                      <a:r>
                        <a:rPr sz="1200" b="1">
                          <a:solidFill>
                            <a:srgbClr val="1A2B4A"/>
                          </a:solidFill>
                        </a:rPr>
                        <a:t>Accuracy</a:t>
                      </a:r>
                    </a:p>
                  </a:txBody>
                  <a:tcPr>
                    <a:solidFill>
                      <a:srgbClr val="EEF2F9"/>
                    </a:solidFill>
                  </a:tcPr>
                </a:tc>
                <a:tc>
                  <a:txBody>
                    <a:bodyPr/>
                    <a:lstStyle/>
                    <a:p>
                      <a:pPr algn="ctr"/>
                      <a:r>
                        <a:rPr sz="1200" b="0">
                          <a:solidFill>
                            <a:srgbClr val="1A2B4A"/>
                          </a:solidFill>
                        </a:rPr>
                        <a:t>0,816</a:t>
                      </a:r>
                    </a:p>
                  </a:txBody>
                  <a:tcPr>
                    <a:solidFill>
                      <a:srgbClr val="FFFFFF"/>
                    </a:solidFill>
                  </a:tcPr>
                </a:tc>
                <a:tc>
                  <a:txBody>
                    <a:bodyPr/>
                    <a:lstStyle/>
                    <a:p>
                      <a:pPr algn="ctr"/>
                      <a:r>
                        <a:rPr sz="1200" b="0">
                          <a:solidFill>
                            <a:srgbClr val="1A2B4A"/>
                          </a:solidFill>
                        </a:rPr>
                        <a:t>0,661</a:t>
                      </a:r>
                    </a:p>
                  </a:txBody>
                  <a:tcPr>
                    <a:solidFill>
                      <a:srgbClr val="FFFFFF"/>
                    </a:solidFill>
                  </a:tcPr>
                </a:tc>
                <a:tc>
                  <a:txBody>
                    <a:bodyPr/>
                    <a:lstStyle/>
                    <a:p>
                      <a:pPr algn="ctr"/>
                      <a:r>
                        <a:rPr sz="1200" b="0">
                          <a:solidFill>
                            <a:srgbClr val="1A2B4A"/>
                          </a:solidFill>
                        </a:rPr>
                        <a:t>0,643</a:t>
                      </a:r>
                    </a:p>
                  </a:txBody>
                  <a:tcPr>
                    <a:solidFill>
                      <a:srgbClr val="FFFFFF"/>
                    </a:solidFill>
                  </a:tcPr>
                </a:tc>
              </a:tr>
              <a:tr h="472440">
                <a:tc>
                  <a:txBody>
                    <a:bodyPr/>
                    <a:lstStyle/>
                    <a:p>
                      <a:pPr algn="l"/>
                      <a:r>
                        <a:rPr sz="1200" b="1">
                          <a:solidFill>
                            <a:srgbClr val="1A2B4A"/>
                          </a:solidFill>
                        </a:rPr>
                        <a:t>Précision</a:t>
                      </a:r>
                    </a:p>
                  </a:txBody>
                  <a:tcPr>
                    <a:solidFill>
                      <a:srgbClr val="EEF2F9"/>
                    </a:solidFill>
                  </a:tcPr>
                </a:tc>
                <a:tc>
                  <a:txBody>
                    <a:bodyPr/>
                    <a:lstStyle/>
                    <a:p>
                      <a:pPr algn="ctr"/>
                      <a:r>
                        <a:rPr sz="1200" b="0">
                          <a:solidFill>
                            <a:srgbClr val="1A2B4A"/>
                          </a:solidFill>
                        </a:rPr>
                        <a:t>0,100</a:t>
                      </a:r>
                    </a:p>
                  </a:txBody>
                  <a:tcPr>
                    <a:solidFill>
                      <a:srgbClr val="FFFFFF"/>
                    </a:solidFill>
                  </a:tcPr>
                </a:tc>
                <a:tc>
                  <a:txBody>
                    <a:bodyPr/>
                    <a:lstStyle/>
                    <a:p>
                      <a:pPr algn="ctr"/>
                      <a:r>
                        <a:rPr sz="1200" b="0">
                          <a:solidFill>
                            <a:srgbClr val="1A2B4A"/>
                          </a:solidFill>
                        </a:rPr>
                        <a:t>0,116</a:t>
                      </a:r>
                    </a:p>
                  </a:txBody>
                  <a:tcPr>
                    <a:solidFill>
                      <a:srgbClr val="FFFFFF"/>
                    </a:solidFill>
                  </a:tcPr>
                </a:tc>
                <a:tc>
                  <a:txBody>
                    <a:bodyPr/>
                    <a:lstStyle/>
                    <a:p>
                      <a:pPr algn="ctr"/>
                      <a:r>
                        <a:rPr sz="1200" b="0">
                          <a:solidFill>
                            <a:srgbClr val="1A2B4A"/>
                          </a:solidFill>
                        </a:rPr>
                        <a:t>0,111</a:t>
                      </a:r>
                    </a:p>
                  </a:txBody>
                  <a:tcPr>
                    <a:solidFill>
                      <a:srgbClr val="FFFFFF"/>
                    </a:solidFill>
                  </a:tcPr>
                </a:tc>
              </a:tr>
              <a:tr h="472440">
                <a:tc>
                  <a:txBody>
                    <a:bodyPr/>
                    <a:lstStyle/>
                    <a:p>
                      <a:pPr algn="l"/>
                      <a:r>
                        <a:rPr sz="1200" b="1">
                          <a:solidFill>
                            <a:srgbClr val="1A2B4A"/>
                          </a:solidFill>
                        </a:rPr>
                        <a:t>Rappel</a:t>
                      </a:r>
                    </a:p>
                  </a:txBody>
                  <a:tcPr>
                    <a:solidFill>
                      <a:srgbClr val="EEF2F9"/>
                    </a:solidFill>
                  </a:tcPr>
                </a:tc>
                <a:tc>
                  <a:txBody>
                    <a:bodyPr/>
                    <a:lstStyle/>
                    <a:p>
                      <a:pPr algn="ctr"/>
                      <a:r>
                        <a:rPr sz="1200" b="0">
                          <a:solidFill>
                            <a:srgbClr val="1A2B4A"/>
                          </a:solidFill>
                        </a:rPr>
                        <a:t>0,125</a:t>
                      </a:r>
                    </a:p>
                  </a:txBody>
                  <a:tcPr>
                    <a:solidFill>
                      <a:srgbClr val="FFFFFF"/>
                    </a:solidFill>
                  </a:tcPr>
                </a:tc>
                <a:tc>
                  <a:txBody>
                    <a:bodyPr/>
                    <a:lstStyle/>
                    <a:p>
                      <a:pPr algn="ctr"/>
                      <a:r>
                        <a:rPr sz="1200" b="0">
                          <a:solidFill>
                            <a:srgbClr val="1A2B4A"/>
                          </a:solidFill>
                        </a:rPr>
                        <a:t>0,407</a:t>
                      </a:r>
                    </a:p>
                  </a:txBody>
                  <a:tcPr>
                    <a:solidFill>
                      <a:srgbClr val="DCFCE7"/>
                    </a:solidFill>
                  </a:tcPr>
                </a:tc>
                <a:tc>
                  <a:txBody>
                    <a:bodyPr/>
                    <a:lstStyle/>
                    <a:p>
                      <a:pPr algn="ctr"/>
                      <a:r>
                        <a:rPr sz="1200" b="0">
                          <a:solidFill>
                            <a:srgbClr val="1A2B4A"/>
                          </a:solidFill>
                        </a:rPr>
                        <a:t>0,412</a:t>
                      </a:r>
                    </a:p>
                  </a:txBody>
                  <a:tcPr>
                    <a:solidFill>
                      <a:srgbClr val="DCFCE7"/>
                    </a:solidFill>
                  </a:tcPr>
                </a:tc>
              </a:tr>
              <a:tr h="472440">
                <a:tc>
                  <a:txBody>
                    <a:bodyPr/>
                    <a:lstStyle/>
                    <a:p>
                      <a:pPr algn="l"/>
                      <a:r>
                        <a:rPr sz="1200" b="1">
                          <a:solidFill>
                            <a:srgbClr val="1A2B4A"/>
                          </a:solidFill>
                        </a:rPr>
                        <a:t>F1-score</a:t>
                      </a:r>
                    </a:p>
                  </a:txBody>
                  <a:tcPr>
                    <a:solidFill>
                      <a:srgbClr val="EEF2F9"/>
                    </a:solidFill>
                  </a:tcPr>
                </a:tc>
                <a:tc>
                  <a:txBody>
                    <a:bodyPr/>
                    <a:lstStyle/>
                    <a:p>
                      <a:pPr algn="ctr"/>
                      <a:r>
                        <a:rPr sz="1200" b="0">
                          <a:solidFill>
                            <a:srgbClr val="1A2B4A"/>
                          </a:solidFill>
                        </a:rPr>
                        <a:t>0,111</a:t>
                      </a:r>
                    </a:p>
                  </a:txBody>
                  <a:tcPr>
                    <a:solidFill>
                      <a:srgbClr val="FFFFFF"/>
                    </a:solidFill>
                  </a:tcPr>
                </a:tc>
                <a:tc>
                  <a:txBody>
                    <a:bodyPr/>
                    <a:lstStyle/>
                    <a:p>
                      <a:pPr algn="ctr"/>
                      <a:r>
                        <a:rPr sz="1200" b="0">
                          <a:solidFill>
                            <a:srgbClr val="1A2B4A"/>
                          </a:solidFill>
                        </a:rPr>
                        <a:t>0,181</a:t>
                      </a:r>
                    </a:p>
                  </a:txBody>
                  <a:tcPr>
                    <a:solidFill>
                      <a:srgbClr val="DCFCE7"/>
                    </a:solidFill>
                  </a:tcPr>
                </a:tc>
                <a:tc>
                  <a:txBody>
                    <a:bodyPr/>
                    <a:lstStyle/>
                    <a:p>
                      <a:pPr algn="ctr"/>
                      <a:r>
                        <a:rPr sz="1200" b="0">
                          <a:solidFill>
                            <a:srgbClr val="1A2B4A"/>
                          </a:solidFill>
                        </a:rPr>
                        <a:t>0,175</a:t>
                      </a:r>
                    </a:p>
                  </a:txBody>
                  <a:tcPr>
                    <a:solidFill>
                      <a:srgbClr val="FFFFFF"/>
                    </a:solidFill>
                  </a:tcPr>
                </a:tc>
              </a:tr>
              <a:tr h="472440">
                <a:tc>
                  <a:txBody>
                    <a:bodyPr/>
                    <a:lstStyle/>
                    <a:p>
                      <a:pPr algn="l"/>
                      <a:r>
                        <a:rPr sz="1200" b="1">
                          <a:solidFill>
                            <a:srgbClr val="1A2B4A"/>
                          </a:solidFill>
                        </a:rPr>
                        <a:t>ROC-AUC</a:t>
                      </a:r>
                    </a:p>
                  </a:txBody>
                  <a:tcPr>
                    <a:solidFill>
                      <a:srgbClr val="EEF2F9"/>
                    </a:solidFill>
                  </a:tcPr>
                </a:tc>
                <a:tc>
                  <a:txBody>
                    <a:bodyPr/>
                    <a:lstStyle/>
                    <a:p>
                      <a:pPr algn="ctr"/>
                      <a:r>
                        <a:rPr sz="1200" b="0">
                          <a:solidFill>
                            <a:srgbClr val="1A2B4A"/>
                          </a:solidFill>
                        </a:rPr>
                        <a:t>0,506</a:t>
                      </a:r>
                    </a:p>
                  </a:txBody>
                  <a:tcPr>
                    <a:solidFill>
                      <a:srgbClr val="FFFFFF"/>
                    </a:solidFill>
                  </a:tcPr>
                </a:tc>
                <a:tc>
                  <a:txBody>
                    <a:bodyPr/>
                    <a:lstStyle/>
                    <a:p>
                      <a:pPr algn="ctr"/>
                      <a:r>
                        <a:rPr sz="1200" b="0">
                          <a:solidFill>
                            <a:srgbClr val="1A2B4A"/>
                          </a:solidFill>
                        </a:rPr>
                        <a:t>0,546</a:t>
                      </a:r>
                    </a:p>
                  </a:txBody>
                  <a:tcPr>
                    <a:solidFill>
                      <a:srgbClr val="FFFFFF"/>
                    </a:solidFill>
                  </a:tcPr>
                </a:tc>
                <a:tc>
                  <a:txBody>
                    <a:bodyPr/>
                    <a:lstStyle/>
                    <a:p>
                      <a:pPr algn="ctr"/>
                      <a:r>
                        <a:rPr sz="1200" b="0">
                          <a:solidFill>
                            <a:srgbClr val="1A2B4A"/>
                          </a:solidFill>
                        </a:rPr>
                        <a:t>0,543</a:t>
                      </a:r>
                    </a:p>
                  </a:txBody>
                  <a:tcPr>
                    <a:solidFill>
                      <a:srgbClr val="FFFFFF"/>
                    </a:solidFill>
                  </a:tcPr>
                </a:tc>
              </a:tr>
            </a:tbl>
          </a:graphicData>
        </a:graphic>
      </p:graphicFrame>
      <p:pic>
        <p:nvPicPr>
          <p:cNvPr id="7" name="Picture 6" descr="comparaison_metriques.png"/>
          <p:cNvPicPr>
            <a:picLocks noChangeAspect="1"/>
          </p:cNvPicPr>
          <p:nvPr/>
        </p:nvPicPr>
        <p:blipFill>
          <a:blip r:embed="rId2"/>
          <a:stretch>
            <a:fillRect/>
          </a:stretch>
        </p:blipFill>
        <p:spPr>
          <a:xfrm>
            <a:off x="5852160" y="1371600"/>
            <a:ext cx="5852160" cy="3057285"/>
          </a:xfrm>
          <a:prstGeom prst="rect">
            <a:avLst/>
          </a:prstGeom>
        </p:spPr>
      </p:pic>
      <p:sp>
        <p:nvSpPr>
          <p:cNvPr id="8" name="TextBox 7"/>
          <p:cNvSpPr txBox="1"/>
          <p:nvPr/>
        </p:nvSpPr>
        <p:spPr>
          <a:xfrm>
            <a:off x="457200" y="4526280"/>
            <a:ext cx="11247120" cy="1325880"/>
          </a:xfrm>
          <a:prstGeom prst="rect">
            <a:avLst/>
          </a:prstGeom>
          <a:noFill/>
        </p:spPr>
        <p:txBody>
          <a:bodyPr wrap="square" anchor="t">
            <a:spAutoFit/>
          </a:bodyPr>
          <a:lstStyle/>
          <a:p>
            <a:pPr algn="l">
              <a:spcBef>
                <a:spcPts val="0"/>
              </a:spcBef>
              <a:spcAft>
                <a:spcPts val="400"/>
              </a:spcAft>
            </a:pPr>
            <a:r>
              <a:rPr sz="1500" b="1">
                <a:solidFill>
                  <a:srgbClr val="2563EB"/>
                </a:solidFill>
                <a:latin typeface="Calibri"/>
              </a:rPr>
              <a:t>Lecture : </a:t>
            </a:r>
            <a:r>
              <a:rPr sz="1500" b="0">
                <a:solidFill>
                  <a:srgbClr val="1A2B4A"/>
                </a:solidFill>
                <a:latin typeface="Calibri"/>
              </a:rPr>
              <a:t>l'arbre a la meilleure accuracy mais ne détecte que 125 cartons sur 1 000 (rappel 12,5 %) — or un modèle trivial « toujours 0 » ferait 90,2 %. Il fait donc moins bien qu'un modèle qui n'apprend rien. Le rééquilibrage porte le rappel de RF et GB à ~40 %. Meilleur F1 : Random Forest (0,181).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1 — ERREURS</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Matrices de confusion</a:t>
            </a:r>
          </a:p>
        </p:txBody>
      </p:sp>
      <p:pic>
        <p:nvPicPr>
          <p:cNvPr id="6" name="Picture 5" descr="comparaison_matrices_confusion.png"/>
          <p:cNvPicPr>
            <a:picLocks noChangeAspect="1"/>
          </p:cNvPicPr>
          <p:nvPr/>
        </p:nvPicPr>
        <p:blipFill>
          <a:blip r:embed="rId2"/>
          <a:stretch>
            <a:fillRect/>
          </a:stretch>
        </p:blipFill>
        <p:spPr>
          <a:xfrm>
            <a:off x="1143000" y="1371600"/>
            <a:ext cx="9875520" cy="3291840"/>
          </a:xfrm>
          <a:prstGeom prst="rect">
            <a:avLst/>
          </a:prstGeom>
        </p:spPr>
      </p:pic>
      <p:sp>
        <p:nvSpPr>
          <p:cNvPr id="7" name="TextBox 6"/>
          <p:cNvSpPr txBox="1"/>
          <p:nvPr/>
        </p:nvSpPr>
        <p:spPr>
          <a:xfrm>
            <a:off x="548640" y="4846320"/>
            <a:ext cx="11064240" cy="1325880"/>
          </a:xfrm>
          <a:prstGeom prst="rect">
            <a:avLst/>
          </a:prstGeom>
          <a:noFill/>
        </p:spPr>
        <p:txBody>
          <a:bodyPr wrap="square" anchor="t">
            <a:spAutoFit/>
          </a:bodyPr>
          <a:lstStyle/>
          <a:p>
            <a:pPr algn="l">
              <a:spcBef>
                <a:spcPts val="0"/>
              </a:spcBef>
              <a:spcAft>
                <a:spcPts val="400"/>
              </a:spcAft>
            </a:pPr>
            <a:r>
              <a:rPr sz="1500" b="1">
                <a:solidFill>
                  <a:srgbClr val="2563EB"/>
                </a:solidFill>
                <a:latin typeface="Calibri"/>
              </a:rPr>
              <a:t>Comment lire : </a:t>
            </a:r>
            <a:r>
              <a:rPr sz="1500" b="0">
                <a:solidFill>
                  <a:srgbClr val="1A2B4A"/>
                </a:solidFill>
                <a:latin typeface="Calibri"/>
              </a:rPr>
              <a:t>diagonale = bonnes prédictions. Hors-diagonale : en haut à droite les faux positifs (carton annoncé à tort), en bas à gauche les faux négatifs (carton non anticipé).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1 — INTERPRÉTATION</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Faux positifs vs faux négatifs</a:t>
            </a:r>
          </a:p>
        </p:txBody>
      </p:sp>
      <p:sp>
        <p:nvSpPr>
          <p:cNvPr id="6" name="TextBox 5"/>
          <p:cNvSpPr txBox="1"/>
          <p:nvPr/>
        </p:nvSpPr>
        <p:spPr>
          <a:xfrm>
            <a:off x="640080" y="1371600"/>
            <a:ext cx="10972800" cy="4937760"/>
          </a:xfrm>
          <a:prstGeom prst="rect">
            <a:avLst/>
          </a:prstGeom>
          <a:noFill/>
        </p:spPr>
        <p:txBody>
          <a:bodyPr wrap="square" anchor="t">
            <a:spAutoFit/>
          </a:bodyPr>
          <a:lstStyle/>
          <a:p>
            <a:pPr algn="l">
              <a:spcBef>
                <a:spcPts val="0"/>
              </a:spcBef>
              <a:spcAft>
                <a:spcPts val="900"/>
              </a:spcAft>
            </a:pPr>
            <a:r>
              <a:rPr sz="1600" b="0">
                <a:solidFill>
                  <a:srgbClr val="1A2B4A"/>
                </a:solidFill>
                <a:latin typeface="Calibri"/>
              </a:rPr>
              <a:t>•  Faux positif = signaler à tort un joueur · Faux négatif = rater un vrai carton.</a:t>
            </a:r>
          </a:p>
          <a:p>
            <a:pPr algn="l">
              <a:spcBef>
                <a:spcPts val="0"/>
              </a:spcBef>
              <a:spcAft>
                <a:spcPts val="900"/>
              </a:spcAft>
            </a:pPr>
            <a:r>
              <a:rPr sz="1450" b="0">
                <a:solidFill>
                  <a:srgbClr val="555555"/>
                </a:solidFill>
                <a:latin typeface="Calibri"/>
              </a:rPr>
              <a:t>–  Dans ce contexte, le faux positif est le plus grave : on ne veut pas pénaliser injustement.</a:t>
            </a:r>
          </a:p>
          <a:p>
            <a:pPr algn="l">
              <a:spcBef>
                <a:spcPts val="0"/>
              </a:spcBef>
              <a:spcAft>
                <a:spcPts val="900"/>
              </a:spcAft>
            </a:pPr>
            <a:r>
              <a:rPr sz="1600" b="0">
                <a:solidFill>
                  <a:srgbClr val="1A2B4A"/>
                </a:solidFill>
                <a:latin typeface="Calibri"/>
              </a:rPr>
              <a:t>•  Or Random Forest : 3 098 faux positifs contre 593 faux négatifs.</a:t>
            </a:r>
          </a:p>
          <a:p>
            <a:pPr algn="l">
              <a:spcBef>
                <a:spcPts val="0"/>
              </a:spcBef>
              <a:spcAft>
                <a:spcPts val="900"/>
              </a:spcAft>
            </a:pPr>
            <a:r>
              <a:rPr sz="1450" b="0">
                <a:solidFill>
                  <a:srgbClr val="555555"/>
                </a:solidFill>
                <a:latin typeface="Calibri"/>
              </a:rPr>
              <a:t>–  Elle se trompe 5 fois plus souvent dans le sens jugé le plus grave.</a:t>
            </a:r>
          </a:p>
          <a:p>
            <a:pPr algn="l">
              <a:spcBef>
                <a:spcPts val="0"/>
              </a:spcBef>
              <a:spcAft>
                <a:spcPts val="900"/>
              </a:spcAft>
            </a:pPr>
            <a:r>
              <a:rPr sz="1450" b="0">
                <a:solidFill>
                  <a:srgbClr val="555555"/>
                </a:solidFill>
                <a:latin typeface="Calibri"/>
              </a:rPr>
              <a:t>–  Sur 3 505 alertes « carton », seules 407 sont justes → ~9 alertes sur 10 sont infondées.</a:t>
            </a:r>
          </a:p>
          <a:p>
            <a:pPr algn="l">
              <a:spcBef>
                <a:spcPts val="0"/>
              </a:spcBef>
              <a:spcAft>
                <a:spcPts val="900"/>
              </a:spcAft>
            </a:pPr>
            <a:r>
              <a:rPr sz="1600" b="0">
                <a:solidFill>
                  <a:srgbClr val="1A2B4A"/>
                </a:solidFill>
                <a:latin typeface="Calibri"/>
              </a:rPr>
              <a:t>•  → Le F1 n'est pas aligné sur la priorité métier.</a:t>
            </a:r>
          </a:p>
          <a:p>
            <a:pPr algn="l">
              <a:spcBef>
                <a:spcPts val="0"/>
              </a:spcBef>
              <a:spcAft>
                <a:spcPts val="900"/>
              </a:spcAft>
            </a:pPr>
            <a:r>
              <a:rPr sz="1450" b="0">
                <a:solidFill>
                  <a:srgbClr val="555555"/>
                </a:solidFill>
                <a:latin typeface="Calibri"/>
              </a:rPr>
              <a:t>–  Viser la précision, ou relever le seuil de décision, serait préférable pour cet usage.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1 — ROC / AUC</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La capacité de discrimination, tous seuils confondus</a:t>
            </a:r>
          </a:p>
        </p:txBody>
      </p:sp>
      <p:pic>
        <p:nvPicPr>
          <p:cNvPr id="6" name="Picture 5" descr="courbe_roc.png"/>
          <p:cNvPicPr>
            <a:picLocks noChangeAspect="1"/>
          </p:cNvPicPr>
          <p:nvPr/>
        </p:nvPicPr>
        <p:blipFill>
          <a:blip r:embed="rId2"/>
          <a:stretch>
            <a:fillRect/>
          </a:stretch>
        </p:blipFill>
        <p:spPr>
          <a:xfrm>
            <a:off x="640080" y="1371600"/>
            <a:ext cx="5394960" cy="4624251"/>
          </a:xfrm>
          <a:prstGeom prst="rect">
            <a:avLst/>
          </a:prstGeom>
        </p:spPr>
      </p:pic>
      <p:sp>
        <p:nvSpPr>
          <p:cNvPr id="7" name="TextBox 6"/>
          <p:cNvSpPr txBox="1"/>
          <p:nvPr/>
        </p:nvSpPr>
        <p:spPr>
          <a:xfrm>
            <a:off x="6492240" y="1645920"/>
            <a:ext cx="5212080" cy="4572000"/>
          </a:xfrm>
          <a:prstGeom prst="rect">
            <a:avLst/>
          </a:prstGeom>
          <a:noFill/>
        </p:spPr>
        <p:txBody>
          <a:bodyPr wrap="square" anchor="t">
            <a:spAutoFit/>
          </a:bodyPr>
          <a:lstStyle/>
          <a:p>
            <a:pPr algn="l">
              <a:spcBef>
                <a:spcPts val="0"/>
              </a:spcBef>
              <a:spcAft>
                <a:spcPts val="1100"/>
              </a:spcAft>
            </a:pPr>
            <a:r>
              <a:rPr sz="1800" b="1">
                <a:solidFill>
                  <a:srgbClr val="2563EB"/>
                </a:solidFill>
                <a:latin typeface="Calibri"/>
              </a:rPr>
              <a:t>AUC ≈ 0,5 : à peine mieux que le hasard</a:t>
            </a:r>
          </a:p>
          <a:p>
            <a:pPr algn="l">
              <a:spcBef>
                <a:spcPts val="0"/>
              </a:spcBef>
              <a:spcAft>
                <a:spcPts val="1100"/>
              </a:spcAft>
            </a:pPr>
            <a:r>
              <a:rPr sz="1500" b="0">
                <a:solidFill>
                  <a:srgbClr val="1A2B4A"/>
                </a:solidFill>
                <a:latin typeface="Calibri"/>
              </a:rPr>
              <a:t>0,506 · 0,546 · 0,543 — les trois courbes frôlent la diagonale.</a:t>
            </a:r>
          </a:p>
          <a:p>
            <a:pPr algn="l">
              <a:spcBef>
                <a:spcPts val="0"/>
              </a:spcBef>
              <a:spcAft>
                <a:spcPts val="1100"/>
              </a:spcAft>
            </a:pPr>
            <a:r>
              <a:rPr sz="1500" b="0">
                <a:solidFill>
                  <a:srgbClr val="1A2B4A"/>
                </a:solidFill>
                <a:latin typeface="Calibri"/>
              </a:rPr>
              <a:t>L'éclairage décisif : la ROC teste tous les seuils, pas seulement 50 %.</a:t>
            </a:r>
          </a:p>
          <a:p>
            <a:pPr algn="l">
              <a:spcBef>
                <a:spcPts val="0"/>
              </a:spcBef>
              <a:spcAft>
                <a:spcPts val="1100"/>
              </a:spcAft>
            </a:pPr>
            <a:r>
              <a:rPr sz="1500" b="0">
                <a:solidFill>
                  <a:srgbClr val="1A2B4A"/>
                </a:solidFill>
                <a:latin typeface="Calibri"/>
              </a:rPr>
              <a:t>Le gain de F1 obtenu par rééquilibrage traduisait donc surtout un déplacement du seuil (modèle plus « alarmiste »), pas une vraie capacité à séparer les classes.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2 — INTERPRÉTABILITÉ</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Un piège : le biais de cardinalité</a:t>
            </a:r>
          </a:p>
        </p:txBody>
      </p:sp>
      <p:pic>
        <p:nvPicPr>
          <p:cNvPr id="6" name="Picture 5" descr="importance_comparaison.png"/>
          <p:cNvPicPr>
            <a:picLocks noChangeAspect="1"/>
          </p:cNvPicPr>
          <p:nvPr/>
        </p:nvPicPr>
        <p:blipFill>
          <a:blip r:embed="rId2"/>
          <a:stretch>
            <a:fillRect/>
          </a:stretch>
        </p:blipFill>
        <p:spPr>
          <a:xfrm>
            <a:off x="1949572" y="1371600"/>
            <a:ext cx="8262375" cy="3566160"/>
          </a:xfrm>
          <a:prstGeom prst="rect">
            <a:avLst/>
          </a:prstGeom>
        </p:spPr>
      </p:pic>
      <p:sp>
        <p:nvSpPr>
          <p:cNvPr id="7" name="TextBox 6"/>
          <p:cNvSpPr txBox="1"/>
          <p:nvPr/>
        </p:nvSpPr>
        <p:spPr>
          <a:xfrm>
            <a:off x="457200" y="5120640"/>
            <a:ext cx="11247120" cy="1325880"/>
          </a:xfrm>
          <a:prstGeom prst="rect">
            <a:avLst/>
          </a:prstGeom>
          <a:noFill/>
        </p:spPr>
        <p:txBody>
          <a:bodyPr wrap="square" anchor="t">
            <a:spAutoFit/>
          </a:bodyPr>
          <a:lstStyle/>
          <a:p>
            <a:pPr algn="l">
              <a:spcBef>
                <a:spcPts val="0"/>
              </a:spcBef>
              <a:spcAft>
                <a:spcPts val="400"/>
              </a:spcAft>
            </a:pPr>
            <a:r>
              <a:rPr sz="1500" b="1">
                <a:solidFill>
                  <a:srgbClr val="2563EB"/>
                </a:solidFill>
                <a:latin typeface="Calibri"/>
              </a:rPr>
              <a:t>Le diagnostic : </a:t>
            </a:r>
            <a:r>
              <a:rPr sz="1500" b="0">
                <a:solidFill>
                  <a:srgbClr val="1A2B4A"/>
                </a:solidFill>
                <a:latin typeface="Calibri"/>
              </a:rPr>
              <a:t>l'importance native place jersey_number en tête — aucun sens footballistique. Cette mesure favorise les variables à nombreuses valeurs distinctes. L'importance par permutation tranche : 0,128 → 0,008, un effondrement d'un facteur ~16. Aucune variable n'a d'effet réellement marquant.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2 — SHAP</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Interprétation globale</a:t>
            </a:r>
          </a:p>
        </p:txBody>
      </p:sp>
      <p:pic>
        <p:nvPicPr>
          <p:cNvPr id="6" name="Picture 5" descr="shap_summary_plot.png"/>
          <p:cNvPicPr>
            <a:picLocks noChangeAspect="1"/>
          </p:cNvPicPr>
          <p:nvPr/>
        </p:nvPicPr>
        <p:blipFill>
          <a:blip r:embed="rId2"/>
          <a:stretch>
            <a:fillRect/>
          </a:stretch>
        </p:blipFill>
        <p:spPr>
          <a:xfrm>
            <a:off x="1045297" y="1280160"/>
            <a:ext cx="4310205" cy="5120640"/>
          </a:xfrm>
          <a:prstGeom prst="rect">
            <a:avLst/>
          </a:prstGeom>
        </p:spPr>
      </p:pic>
      <p:sp>
        <p:nvSpPr>
          <p:cNvPr id="7" name="TextBox 6"/>
          <p:cNvSpPr txBox="1"/>
          <p:nvPr/>
        </p:nvSpPr>
        <p:spPr>
          <a:xfrm>
            <a:off x="6126480" y="1554480"/>
            <a:ext cx="5577840" cy="4572000"/>
          </a:xfrm>
          <a:prstGeom prst="rect">
            <a:avLst/>
          </a:prstGeom>
          <a:noFill/>
        </p:spPr>
        <p:txBody>
          <a:bodyPr wrap="square" anchor="t">
            <a:spAutoFit/>
          </a:bodyPr>
          <a:lstStyle/>
          <a:p>
            <a:pPr algn="l">
              <a:spcBef>
                <a:spcPts val="0"/>
              </a:spcBef>
              <a:spcAft>
                <a:spcPts val="1000"/>
              </a:spcAft>
            </a:pPr>
            <a:r>
              <a:rPr sz="1800" b="1">
                <a:solidFill>
                  <a:srgbClr val="2563EB"/>
                </a:solidFill>
                <a:latin typeface="Calibri"/>
              </a:rPr>
              <a:t>Comment lire</a:t>
            </a:r>
          </a:p>
          <a:p>
            <a:pPr algn="l">
              <a:spcBef>
                <a:spcPts val="0"/>
              </a:spcBef>
              <a:spcAft>
                <a:spcPts val="1000"/>
              </a:spcAft>
            </a:pPr>
            <a:r>
              <a:rPr sz="1500" b="0">
                <a:solidFill>
                  <a:srgbClr val="1A2B4A"/>
                </a:solidFill>
                <a:latin typeface="Calibri"/>
              </a:rPr>
              <a:t>Chaque point = un joueur. Rouge = valeur haute de la variable, bleu = valeur basse.</a:t>
            </a:r>
          </a:p>
          <a:p>
            <a:pPr algn="l">
              <a:spcBef>
                <a:spcPts val="0"/>
              </a:spcBef>
              <a:spcAft>
                <a:spcPts val="1000"/>
              </a:spcAft>
            </a:pPr>
            <a:r>
              <a:rPr sz="1500" b="0">
                <a:solidFill>
                  <a:srgbClr val="1A2B4A"/>
                </a:solidFill>
                <a:latin typeface="Calibri"/>
              </a:rPr>
              <a:t>À droite = pousse vers « carton », à gauche = vers « pas de carton ».</a:t>
            </a:r>
          </a:p>
          <a:p>
            <a:pPr algn="l">
              <a:spcBef>
                <a:spcPts val="0"/>
              </a:spcBef>
              <a:spcAft>
                <a:spcPts val="1000"/>
              </a:spcAft>
            </a:pPr>
            <a:r>
              <a:rPr sz="1500" b="0">
                <a:solidFill>
                  <a:srgbClr val="1A2B4A"/>
                </a:solidFill>
                <a:latin typeface="Calibri"/>
              </a:rPr>
              <a:t>defensive_contribution donne la relation la plus cohérente : rouge à droite, bleu à gauche — plus d'engagement défensif, plus de risque.</a:t>
            </a:r>
          </a:p>
          <a:p>
            <a:pPr algn="l">
              <a:spcBef>
                <a:spcPts val="0"/>
              </a:spcBef>
              <a:spcAft>
                <a:spcPts val="1000"/>
              </a:spcAft>
            </a:pPr>
            <a:r>
              <a:rPr sz="1500" b="1">
                <a:solidFill>
                  <a:srgbClr val="1A2B4A"/>
                </a:solidFill>
                <a:latin typeface="Calibri"/>
              </a:rPr>
              <a:t>Mais l'échelle (−0,04 à +0,03) confirme un signal très faible.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2 — CAS INDIVIDUEL</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SHAP waterfall — un joueur</a:t>
            </a:r>
          </a:p>
        </p:txBody>
      </p:sp>
      <p:pic>
        <p:nvPicPr>
          <p:cNvPr id="6" name="Picture 5" descr="shap_waterfall_joueur0.png"/>
          <p:cNvPicPr>
            <a:picLocks noChangeAspect="1"/>
          </p:cNvPicPr>
          <p:nvPr/>
        </p:nvPicPr>
        <p:blipFill>
          <a:blip r:embed="rId2"/>
          <a:stretch>
            <a:fillRect/>
          </a:stretch>
        </p:blipFill>
        <p:spPr>
          <a:xfrm>
            <a:off x="640080" y="1371600"/>
            <a:ext cx="6284821" cy="4754880"/>
          </a:xfrm>
          <a:prstGeom prst="rect">
            <a:avLst/>
          </a:prstGeom>
        </p:spPr>
      </p:pic>
      <p:sp>
        <p:nvSpPr>
          <p:cNvPr id="7" name="TextBox 6"/>
          <p:cNvSpPr txBox="1"/>
          <p:nvPr/>
        </p:nvSpPr>
        <p:spPr>
          <a:xfrm>
            <a:off x="7498079" y="1463040"/>
            <a:ext cx="4206240" cy="4572000"/>
          </a:xfrm>
          <a:prstGeom prst="rect">
            <a:avLst/>
          </a:prstGeom>
          <a:noFill/>
        </p:spPr>
        <p:txBody>
          <a:bodyPr wrap="square" anchor="t">
            <a:spAutoFit/>
          </a:bodyPr>
          <a:lstStyle/>
          <a:p>
            <a:pPr algn="l">
              <a:spcBef>
                <a:spcPts val="0"/>
              </a:spcBef>
              <a:spcAft>
                <a:spcPts val="1000"/>
              </a:spcAft>
            </a:pPr>
            <a:r>
              <a:rPr sz="1800" b="1">
                <a:solidFill>
                  <a:srgbClr val="2563EB"/>
                </a:solidFill>
                <a:latin typeface="Calibri"/>
              </a:rPr>
              <a:t>Comment lire</a:t>
            </a:r>
          </a:p>
          <a:p>
            <a:pPr algn="l">
              <a:spcBef>
                <a:spcPts val="0"/>
              </a:spcBef>
              <a:spcAft>
                <a:spcPts val="1000"/>
              </a:spcAft>
            </a:pPr>
            <a:r>
              <a:rPr sz="1500" b="0">
                <a:solidFill>
                  <a:srgbClr val="1A2B4A"/>
                </a:solidFill>
                <a:latin typeface="Calibri"/>
              </a:rPr>
              <a:t>On part de la prédiction moyenne (0,5) pour arriver à celle du joueur (0,443).</a:t>
            </a:r>
          </a:p>
          <a:p>
            <a:pPr algn="l">
              <a:spcBef>
                <a:spcPts val="0"/>
              </a:spcBef>
              <a:spcAft>
                <a:spcPts val="1000"/>
              </a:spcAft>
            </a:pPr>
            <a:r>
              <a:rPr sz="1500" b="1">
                <a:solidFill>
                  <a:srgbClr val="1D4ED8"/>
                </a:solidFill>
                <a:latin typeface="Calibri"/>
              </a:rPr>
              <a:t>Bleu → pousse vers « pas de carton »</a:t>
            </a:r>
          </a:p>
          <a:p>
            <a:pPr algn="l">
              <a:spcBef>
                <a:spcPts val="0"/>
              </a:spcBef>
              <a:spcAft>
                <a:spcPts val="1000"/>
              </a:spcAft>
            </a:pPr>
            <a:r>
              <a:rPr sz="1500" b="1">
                <a:solidFill>
                  <a:srgbClr val="C02A2A"/>
                </a:solidFill>
                <a:latin typeface="Calibri"/>
              </a:rPr>
              <a:t>Rouge → pousse vers « carton »</a:t>
            </a:r>
          </a:p>
          <a:p>
            <a:pPr algn="l">
              <a:spcBef>
                <a:spcPts val="0"/>
              </a:spcBef>
              <a:spcAft>
                <a:spcPts val="1000"/>
              </a:spcAft>
            </a:pPr>
            <a:r>
              <a:rPr sz="1500" b="0">
                <a:solidFill>
                  <a:srgbClr val="1A2B4A"/>
                </a:solidFill>
                <a:latin typeface="Calibri"/>
              </a:rPr>
              <a:t>Ici : un creativity_score très élevé (99) réduit le risque. total_minutes_tournament pousse en sens inverse, mais de façon négligeable.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3 — NON SUPERVISÉ</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Trois techniques de réduction de dimension</a:t>
            </a:r>
          </a:p>
        </p:txBody>
      </p:sp>
      <p:pic>
        <p:nvPicPr>
          <p:cNvPr id="6" name="Picture 5" descr="comparaison_reduction_dimension.png"/>
          <p:cNvPicPr>
            <a:picLocks noChangeAspect="1"/>
          </p:cNvPicPr>
          <p:nvPr/>
        </p:nvPicPr>
        <p:blipFill>
          <a:blip r:embed="rId2"/>
          <a:stretch>
            <a:fillRect/>
          </a:stretch>
        </p:blipFill>
        <p:spPr>
          <a:xfrm>
            <a:off x="939417" y="1325880"/>
            <a:ext cx="10282686" cy="3657600"/>
          </a:xfrm>
          <a:prstGeom prst="rect">
            <a:avLst/>
          </a:prstGeom>
        </p:spPr>
      </p:pic>
      <p:sp>
        <p:nvSpPr>
          <p:cNvPr id="7" name="TextBox 6"/>
          <p:cNvSpPr txBox="1"/>
          <p:nvPr/>
        </p:nvSpPr>
        <p:spPr>
          <a:xfrm>
            <a:off x="457200" y="5120640"/>
            <a:ext cx="11247120" cy="1325880"/>
          </a:xfrm>
          <a:prstGeom prst="rect">
            <a:avLst/>
          </a:prstGeom>
          <a:noFill/>
        </p:spPr>
        <p:txBody>
          <a:bodyPr wrap="square" anchor="t">
            <a:spAutoFit/>
          </a:bodyPr>
          <a:lstStyle/>
          <a:p>
            <a:pPr algn="l">
              <a:spcBef>
                <a:spcPts val="0"/>
              </a:spcBef>
              <a:spcAft>
                <a:spcPts val="400"/>
              </a:spcAft>
            </a:pPr>
            <a:r>
              <a:rPr sz="1500" b="1">
                <a:solidFill>
                  <a:srgbClr val="2563EB"/>
                </a:solidFill>
                <a:latin typeface="Calibri"/>
              </a:rPr>
              <a:t>Ce qu'on voit : </a:t>
            </a:r>
            <a:r>
              <a:rPr sz="1500" b="0">
                <a:solidFill>
                  <a:srgbClr val="1A2B4A"/>
                </a:solidFill>
                <a:latin typeface="Calibri"/>
              </a:rPr>
              <a:t>PCA (variance maximale) isole les gardiens mais mélange les autres postes · ICA (composantes indépendantes) fait apparaître des bandes nettes par rôle · t-SNE (non linéaire, voisinage local) éclate les données en micro-groupes. Les couleurs viennent des postes réels — usage post-hoc uniquement.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3 — COMPARAISON</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Laquelle choisir ? La mesure tranche</a:t>
            </a:r>
          </a:p>
        </p:txBody>
      </p:sp>
      <p:pic>
        <p:nvPicPr>
          <p:cNvPr id="6" name="Picture 5" descr="comparaison_silhouette_reduction.png"/>
          <p:cNvPicPr>
            <a:picLocks noChangeAspect="1"/>
          </p:cNvPicPr>
          <p:nvPr/>
        </p:nvPicPr>
        <p:blipFill>
          <a:blip r:embed="rId2"/>
          <a:stretch>
            <a:fillRect/>
          </a:stretch>
        </p:blipFill>
        <p:spPr>
          <a:xfrm>
            <a:off x="548640" y="1371600"/>
            <a:ext cx="5852160" cy="3156591"/>
          </a:xfrm>
          <a:prstGeom prst="rect">
            <a:avLst/>
          </a:prstGeom>
        </p:spPr>
      </p:pic>
      <p:sp>
        <p:nvSpPr>
          <p:cNvPr id="7" name="TextBox 6"/>
          <p:cNvSpPr txBox="1"/>
          <p:nvPr/>
        </p:nvSpPr>
        <p:spPr>
          <a:xfrm>
            <a:off x="6675120" y="1463040"/>
            <a:ext cx="5029200" cy="4937760"/>
          </a:xfrm>
          <a:prstGeom prst="rect">
            <a:avLst/>
          </a:prstGeom>
          <a:noFill/>
        </p:spPr>
        <p:txBody>
          <a:bodyPr wrap="square" anchor="t">
            <a:spAutoFit/>
          </a:bodyPr>
          <a:lstStyle/>
          <a:p>
            <a:pPr algn="l">
              <a:spcBef>
                <a:spcPts val="0"/>
              </a:spcBef>
              <a:spcAft>
                <a:spcPts val="900"/>
              </a:spcAft>
            </a:pPr>
            <a:r>
              <a:rPr sz="1800" b="1">
                <a:solidFill>
                  <a:srgbClr val="2563EB"/>
                </a:solidFill>
                <a:latin typeface="Calibri"/>
              </a:rPr>
              <a:t>Trois enseignements</a:t>
            </a:r>
          </a:p>
          <a:p>
            <a:pPr algn="l">
              <a:spcBef>
                <a:spcPts val="0"/>
              </a:spcBef>
              <a:spcAft>
                <a:spcPts val="900"/>
              </a:spcAft>
            </a:pPr>
            <a:r>
              <a:rPr sz="1400" b="0">
                <a:solidFill>
                  <a:srgbClr val="1A2B4A"/>
                </a:solidFill>
                <a:latin typeface="Calibri"/>
              </a:rPr>
              <a:t>1. ICA sépare le mieux les postes (0,138 vs 0,078) — chercher des composantes indépendantes est ici plus pertinent que la variance maximale.</a:t>
            </a:r>
          </a:p>
          <a:p>
            <a:pPr algn="l">
              <a:spcBef>
                <a:spcPts val="0"/>
              </a:spcBef>
              <a:spcAft>
                <a:spcPts val="900"/>
              </a:spcAft>
            </a:pPr>
            <a:r>
              <a:rPr sz="1400" b="0">
                <a:solidFill>
                  <a:srgbClr val="1A2B4A"/>
                </a:solidFill>
                <a:latin typeface="Calibri"/>
              </a:rPr>
              <a:t>2. t-SNE fragmente en micro-groupes : spectaculaire, mais ces amas ne correspondent pas aux postes (0,108).</a:t>
            </a:r>
          </a:p>
          <a:p>
            <a:pPr algn="l">
              <a:spcBef>
                <a:spcPts val="0"/>
              </a:spcBef>
              <a:spcAft>
                <a:spcPts val="900"/>
              </a:spcAft>
            </a:pPr>
            <a:r>
              <a:rPr sz="1400" b="0">
                <a:solidFill>
                  <a:srgbClr val="1A2B4A"/>
                </a:solidFill>
                <a:latin typeface="Calibri"/>
              </a:rPr>
              <a:t>3. PCA garde la meilleure cohésion KMeans (0,468) et reste la plus rapide sur les 54 600 lignes → c'est elle qu'on retient pour la suite.</a:t>
            </a:r>
          </a:p>
          <a:p>
            <a:pPr algn="l">
              <a:spcBef>
                <a:spcPts val="0"/>
              </a:spcBef>
              <a:spcAft>
                <a:spcPts val="900"/>
              </a:spcAft>
            </a:pPr>
            <a:r>
              <a:rPr sz="1400" b="1">
                <a:solidFill>
                  <a:srgbClr val="2563EB"/>
                </a:solidFill>
                <a:latin typeface="Calibri"/>
              </a:rPr>
              <a:t>Aucune des trois ne révèle de structure liée aux cartons jaunes.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3 — NON SUPERVISÉ</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PCA — réduction de dimension</a:t>
            </a:r>
          </a:p>
        </p:txBody>
      </p:sp>
      <p:pic>
        <p:nvPicPr>
          <p:cNvPr id="6" name="Picture 5" descr="pca_variance_expliquee.png"/>
          <p:cNvPicPr>
            <a:picLocks noChangeAspect="1"/>
          </p:cNvPicPr>
          <p:nvPr/>
        </p:nvPicPr>
        <p:blipFill>
          <a:blip r:embed="rId2"/>
          <a:stretch>
            <a:fillRect/>
          </a:stretch>
        </p:blipFill>
        <p:spPr>
          <a:xfrm>
            <a:off x="548640" y="1325880"/>
            <a:ext cx="5394960" cy="3220656"/>
          </a:xfrm>
          <a:prstGeom prst="rect">
            <a:avLst/>
          </a:prstGeom>
        </p:spPr>
      </p:pic>
      <p:pic>
        <p:nvPicPr>
          <p:cNvPr id="7" name="Picture 6" descr="pca_par_poste.png"/>
          <p:cNvPicPr>
            <a:picLocks noChangeAspect="1"/>
          </p:cNvPicPr>
          <p:nvPr/>
        </p:nvPicPr>
        <p:blipFill>
          <a:blip r:embed="rId3"/>
          <a:stretch>
            <a:fillRect/>
          </a:stretch>
        </p:blipFill>
        <p:spPr>
          <a:xfrm>
            <a:off x="6726765" y="1325880"/>
            <a:ext cx="4560150" cy="3566160"/>
          </a:xfrm>
          <a:prstGeom prst="rect">
            <a:avLst/>
          </a:prstGeom>
        </p:spPr>
      </p:pic>
      <p:sp>
        <p:nvSpPr>
          <p:cNvPr id="8" name="TextBox 7"/>
          <p:cNvSpPr txBox="1"/>
          <p:nvPr/>
        </p:nvSpPr>
        <p:spPr>
          <a:xfrm>
            <a:off x="548640" y="5029200"/>
            <a:ext cx="5394960" cy="365760"/>
          </a:xfrm>
          <a:prstGeom prst="rect">
            <a:avLst/>
          </a:prstGeom>
          <a:noFill/>
        </p:spPr>
        <p:txBody>
          <a:bodyPr wrap="square" anchor="t">
            <a:spAutoFit/>
          </a:bodyPr>
          <a:lstStyle/>
          <a:p>
            <a:pPr algn="ctr">
              <a:spcBef>
                <a:spcPts val="0"/>
              </a:spcBef>
              <a:spcAft>
                <a:spcPts val="600"/>
              </a:spcAft>
            </a:pPr>
            <a:r>
              <a:rPr sz="1100" b="0">
                <a:solidFill>
                  <a:srgbClr val="555555"/>
                </a:solidFill>
                <a:latin typeface="Calibri"/>
              </a:rPr>
              <a:t>2 composantes = 30,8 % de l'information</a:t>
            </a:r>
          </a:p>
        </p:txBody>
      </p:sp>
      <p:sp>
        <p:nvSpPr>
          <p:cNvPr id="9" name="TextBox 8"/>
          <p:cNvSpPr txBox="1"/>
          <p:nvPr/>
        </p:nvSpPr>
        <p:spPr>
          <a:xfrm>
            <a:off x="6309360" y="5029200"/>
            <a:ext cx="5394960" cy="365760"/>
          </a:xfrm>
          <a:prstGeom prst="rect">
            <a:avLst/>
          </a:prstGeom>
          <a:noFill/>
        </p:spPr>
        <p:txBody>
          <a:bodyPr wrap="square" anchor="t">
            <a:spAutoFit/>
          </a:bodyPr>
          <a:lstStyle/>
          <a:p>
            <a:pPr algn="ctr">
              <a:spcBef>
                <a:spcPts val="0"/>
              </a:spcBef>
              <a:spcAft>
                <a:spcPts val="600"/>
              </a:spcAft>
            </a:pPr>
            <a:r>
              <a:rPr sz="1100" b="0">
                <a:solidFill>
                  <a:srgbClr val="555555"/>
                </a:solidFill>
                <a:latin typeface="Calibri"/>
              </a:rPr>
              <a:t>Coloré par poste : les gardiens (rose) se détachent</a:t>
            </a:r>
          </a:p>
        </p:txBody>
      </p:sp>
      <p:sp>
        <p:nvSpPr>
          <p:cNvPr id="10" name="TextBox 9"/>
          <p:cNvSpPr txBox="1"/>
          <p:nvPr/>
        </p:nvSpPr>
        <p:spPr>
          <a:xfrm>
            <a:off x="548640" y="5321808"/>
            <a:ext cx="11155680" cy="1325880"/>
          </a:xfrm>
          <a:prstGeom prst="rect">
            <a:avLst/>
          </a:prstGeom>
          <a:noFill/>
        </p:spPr>
        <p:txBody>
          <a:bodyPr wrap="square" anchor="t">
            <a:spAutoFit/>
          </a:bodyPr>
          <a:lstStyle/>
          <a:p>
            <a:pPr algn="l">
              <a:spcBef>
                <a:spcPts val="0"/>
              </a:spcBef>
              <a:spcAft>
                <a:spcPts val="400"/>
              </a:spcAft>
            </a:pPr>
            <a:r>
              <a:rPr sz="1500" b="1">
                <a:solidFill>
                  <a:srgbClr val="2563EB"/>
                </a:solidFill>
                <a:latin typeface="Calibri"/>
              </a:rPr>
              <a:t>À retenir : </a:t>
            </a:r>
            <a:r>
              <a:rPr sz="1500" b="0">
                <a:solidFill>
                  <a:srgbClr val="1A2B4A"/>
                </a:solidFill>
                <a:latin typeface="Calibri"/>
              </a:rPr>
              <a:t>la cible n'est pas utilisée pour construire les groupes — elle ne sert qu'à interpréter après coup. Malgré 70 % d'information perdue, une structure nette apparaît, expliquée par le poste des joueurs.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PARTIE 3 — CLUSTERING</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KMeans vs DBSCAN</a:t>
            </a:r>
          </a:p>
        </p:txBody>
      </p:sp>
      <p:pic>
        <p:nvPicPr>
          <p:cNvPr id="6" name="Picture 5" descr="kmeans_clusters.png"/>
          <p:cNvPicPr>
            <a:picLocks noChangeAspect="1"/>
          </p:cNvPicPr>
          <p:nvPr/>
        </p:nvPicPr>
        <p:blipFill>
          <a:blip r:embed="rId2"/>
          <a:stretch>
            <a:fillRect/>
          </a:stretch>
        </p:blipFill>
        <p:spPr>
          <a:xfrm>
            <a:off x="1151674" y="1325880"/>
            <a:ext cx="4097452" cy="3200400"/>
          </a:xfrm>
          <a:prstGeom prst="rect">
            <a:avLst/>
          </a:prstGeom>
        </p:spPr>
      </p:pic>
      <p:pic>
        <p:nvPicPr>
          <p:cNvPr id="7" name="Picture 6" descr="dbscan_clusters.png"/>
          <p:cNvPicPr>
            <a:picLocks noChangeAspect="1"/>
          </p:cNvPicPr>
          <p:nvPr/>
        </p:nvPicPr>
        <p:blipFill>
          <a:blip r:embed="rId3"/>
          <a:stretch>
            <a:fillRect/>
          </a:stretch>
        </p:blipFill>
        <p:spPr>
          <a:xfrm>
            <a:off x="6820954" y="1325880"/>
            <a:ext cx="4097452" cy="3200400"/>
          </a:xfrm>
          <a:prstGeom prst="rect">
            <a:avLst/>
          </a:prstGeom>
        </p:spPr>
      </p:pic>
      <p:sp>
        <p:nvSpPr>
          <p:cNvPr id="8" name="TextBox 7"/>
          <p:cNvSpPr txBox="1"/>
          <p:nvPr/>
        </p:nvSpPr>
        <p:spPr>
          <a:xfrm>
            <a:off x="640080" y="4617720"/>
            <a:ext cx="5120640" cy="365760"/>
          </a:xfrm>
          <a:prstGeom prst="rect">
            <a:avLst/>
          </a:prstGeom>
          <a:noFill/>
        </p:spPr>
        <p:txBody>
          <a:bodyPr wrap="square" anchor="t">
            <a:spAutoFit/>
          </a:bodyPr>
          <a:lstStyle/>
          <a:p>
            <a:pPr algn="ctr">
              <a:spcBef>
                <a:spcPts val="0"/>
              </a:spcBef>
              <a:spcAft>
                <a:spcPts val="600"/>
              </a:spcAft>
            </a:pPr>
            <a:r>
              <a:rPr sz="1100" b="0">
                <a:solidFill>
                  <a:srgbClr val="555555"/>
                </a:solidFill>
                <a:latin typeface="Calibri"/>
              </a:rPr>
              <a:t>KMeans (k=4) — silhouette 0,135 : groupes chevauchants</a:t>
            </a:r>
          </a:p>
        </p:txBody>
      </p:sp>
      <p:sp>
        <p:nvSpPr>
          <p:cNvPr id="9" name="TextBox 8"/>
          <p:cNvSpPr txBox="1"/>
          <p:nvPr/>
        </p:nvSpPr>
        <p:spPr>
          <a:xfrm>
            <a:off x="6309360" y="4617720"/>
            <a:ext cx="5120640" cy="365760"/>
          </a:xfrm>
          <a:prstGeom prst="rect">
            <a:avLst/>
          </a:prstGeom>
          <a:noFill/>
        </p:spPr>
        <p:txBody>
          <a:bodyPr wrap="square" anchor="t">
            <a:spAutoFit/>
          </a:bodyPr>
          <a:lstStyle/>
          <a:p>
            <a:pPr algn="ctr">
              <a:spcBef>
                <a:spcPts val="0"/>
              </a:spcBef>
              <a:spcAft>
                <a:spcPts val="600"/>
              </a:spcAft>
            </a:pPr>
            <a:r>
              <a:rPr sz="1100" b="0">
                <a:solidFill>
                  <a:srgbClr val="555555"/>
                </a:solidFill>
                <a:latin typeface="Calibri"/>
              </a:rPr>
              <a:t>DBSCAN — 2 clusters nets + 27 points de bruit</a:t>
            </a:r>
          </a:p>
        </p:txBody>
      </p:sp>
      <p:sp>
        <p:nvSpPr>
          <p:cNvPr id="10" name="TextBox 9"/>
          <p:cNvSpPr txBox="1"/>
          <p:nvPr/>
        </p:nvSpPr>
        <p:spPr>
          <a:xfrm>
            <a:off x="640080" y="5074920"/>
            <a:ext cx="11064240" cy="1554480"/>
          </a:xfrm>
          <a:prstGeom prst="rect">
            <a:avLst/>
          </a:prstGeom>
          <a:noFill/>
        </p:spPr>
        <p:txBody>
          <a:bodyPr wrap="square" anchor="t">
            <a:spAutoFit/>
          </a:bodyPr>
          <a:lstStyle/>
          <a:p>
            <a:pPr algn="l">
              <a:spcBef>
                <a:spcPts val="0"/>
              </a:spcBef>
              <a:spcAft>
                <a:spcPts val="500"/>
              </a:spcAft>
            </a:pPr>
            <a:r>
              <a:rPr sz="1500" b="0">
                <a:solidFill>
                  <a:srgbClr val="1A2B4A"/>
                </a:solidFill>
                <a:latin typeface="Calibri"/>
              </a:rPr>
              <a:t>KMeans cherche des groupes convexes de taille comparable : il ne retrouve pas les postes réels. DBSCAN raisonne par densité et isole 2 clusters nets.</a:t>
            </a:r>
          </a:p>
          <a:p>
            <a:pPr algn="l">
              <a:spcBef>
                <a:spcPts val="0"/>
              </a:spcBef>
              <a:spcAft>
                <a:spcPts val="500"/>
              </a:spcAft>
            </a:pPr>
            <a:r>
              <a:rPr sz="1500" b="1">
                <a:solidFill>
                  <a:srgbClr val="1A2B4A"/>
                </a:solidFill>
                <a:latin typeface="Calibri"/>
              </a:rPr>
              <a:t>Le cluster isolé est 3× plus riche en gardiens (18,2 % contre 6,7 %) — mais le taux de cartons y est quasi identique (9,9 % vs 9,6 %) : la structure reflète le poste, pas les cartons.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972800" cy="365760"/>
          </a:xfrm>
          <a:prstGeom prst="rect">
            <a:avLst/>
          </a:prstGeom>
          <a:noFill/>
        </p:spPr>
        <p:txBody>
          <a:bodyPr wrap="square" anchor="t">
            <a:spAutoFit/>
          </a:bodyPr>
          <a:lstStyle/>
          <a:p>
            <a:pPr algn="l">
              <a:spcBef>
                <a:spcPts val="0"/>
              </a:spcBef>
              <a:spcAft>
                <a:spcPts val="600"/>
              </a:spcAft>
            </a:pPr>
            <a:r>
              <a:rPr sz="1300" b="1">
                <a:solidFill>
                  <a:srgbClr val="9DB8E8"/>
                </a:solidFill>
                <a:latin typeface="Calibri"/>
              </a:rPr>
              <a:t>CONCLUSION</a:t>
            </a:r>
          </a:p>
        </p:txBody>
      </p:sp>
      <p:sp>
        <p:nvSpPr>
          <p:cNvPr id="5" name="TextBox 4"/>
          <p:cNvSpPr txBox="1"/>
          <p:nvPr/>
        </p:nvSpPr>
        <p:spPr>
          <a:xfrm>
            <a:off x="548640" y="384048"/>
            <a:ext cx="11155680" cy="640080"/>
          </a:xfrm>
          <a:prstGeom prst="rect">
            <a:avLst/>
          </a:prstGeom>
          <a:noFill/>
        </p:spPr>
        <p:txBody>
          <a:bodyPr wrap="square" anchor="t">
            <a:spAutoFit/>
          </a:bodyPr>
          <a:lstStyle/>
          <a:p>
            <a:pPr algn="l">
              <a:spcBef>
                <a:spcPts val="0"/>
              </a:spcBef>
              <a:spcAft>
                <a:spcPts val="600"/>
              </a:spcAft>
            </a:pPr>
            <a:r>
              <a:rPr sz="2600" b="1">
                <a:solidFill>
                  <a:srgbClr val="FFFFFF"/>
                </a:solidFill>
                <a:latin typeface="Calibri"/>
              </a:rPr>
              <a:t>Quatre approches, un même constat</a:t>
            </a:r>
          </a:p>
        </p:txBody>
      </p:sp>
      <p:sp>
        <p:nvSpPr>
          <p:cNvPr id="6" name="TextBox 5"/>
          <p:cNvSpPr txBox="1"/>
          <p:nvPr/>
        </p:nvSpPr>
        <p:spPr>
          <a:xfrm>
            <a:off x="548640" y="1280160"/>
            <a:ext cx="11247120" cy="3931920"/>
          </a:xfrm>
          <a:prstGeom prst="rect">
            <a:avLst/>
          </a:prstGeom>
          <a:noFill/>
        </p:spPr>
        <p:txBody>
          <a:bodyPr wrap="square" anchor="t">
            <a:spAutoFit/>
          </a:bodyPr>
          <a:lstStyle/>
          <a:p>
            <a:pPr algn="l">
              <a:spcBef>
                <a:spcPts val="0"/>
              </a:spcBef>
              <a:spcAft>
                <a:spcPts val="900"/>
              </a:spcAft>
            </a:pPr>
            <a:r>
              <a:rPr sz="1550" b="0">
                <a:solidFill>
                  <a:srgbClr val="1A2B4A"/>
                </a:solidFill>
                <a:latin typeface="Calibri"/>
              </a:rPr>
              <a:t>•  Corrélation : aucune variable au-dessus de |0,04|.</a:t>
            </a:r>
          </a:p>
          <a:p>
            <a:pPr algn="l">
              <a:spcBef>
                <a:spcPts val="0"/>
              </a:spcBef>
              <a:spcAft>
                <a:spcPts val="900"/>
              </a:spcAft>
            </a:pPr>
            <a:r>
              <a:rPr sz="1550" b="0">
                <a:solidFill>
                  <a:srgbClr val="1A2B4A"/>
                </a:solidFill>
                <a:latin typeface="Calibri"/>
              </a:rPr>
              <a:t>•  Modèles supervisés : AUC de 0,506 à 0,546, à peine mieux que le hasard.</a:t>
            </a:r>
          </a:p>
          <a:p>
            <a:pPr algn="l">
              <a:spcBef>
                <a:spcPts val="0"/>
              </a:spcBef>
              <a:spcAft>
                <a:spcPts val="900"/>
              </a:spcAft>
            </a:pPr>
            <a:r>
              <a:rPr sz="1550" b="0">
                <a:solidFill>
                  <a:srgbClr val="1A2B4A"/>
                </a:solidFill>
                <a:latin typeface="Calibri"/>
              </a:rPr>
              <a:t>•  Permutation &amp; SHAP : effets individuels minuscules.</a:t>
            </a:r>
          </a:p>
          <a:p>
            <a:pPr algn="l">
              <a:spcBef>
                <a:spcPts val="0"/>
              </a:spcBef>
              <a:spcAft>
                <a:spcPts val="900"/>
              </a:spcAft>
            </a:pPr>
            <a:r>
              <a:rPr sz="1550" b="0">
                <a:solidFill>
                  <a:srgbClr val="1A2B4A"/>
                </a:solidFill>
                <a:latin typeface="Calibri"/>
              </a:rPr>
              <a:t>•  Clustering : la structure reflète le poste, pas les cartons.</a:t>
            </a:r>
          </a:p>
          <a:p>
            <a:pPr algn="l">
              <a:spcBef>
                <a:spcPts val="0"/>
              </a:spcBef>
              <a:spcAft>
                <a:spcPts val="900"/>
              </a:spcAft>
            </a:pPr>
            <a:r>
              <a:rPr sz="1550" b="0">
                <a:solidFill>
                  <a:srgbClr val="1A2B4A"/>
                </a:solidFill>
                <a:latin typeface="Calibri"/>
              </a:rPr>
              <a:t>•  → Les cartons jaunes ne sont pas prédictibles à partir de ces variables.</a:t>
            </a:r>
          </a:p>
          <a:p>
            <a:pPr algn="l">
              <a:spcBef>
                <a:spcPts val="0"/>
              </a:spcBef>
              <a:spcAft>
                <a:spcPts val="900"/>
              </a:spcAft>
            </a:pPr>
            <a:r>
              <a:rPr sz="1400" b="0">
                <a:solidFill>
                  <a:srgbClr val="555555"/>
                </a:solidFill>
                <a:latin typeface="Calibri"/>
              </a:rPr>
              <a:t>–  La convergence de 4 méthodes différentes rend le constat solide : ce n'est pas un modèle mal réglé.</a:t>
            </a:r>
          </a:p>
          <a:p>
            <a:pPr algn="l">
              <a:spcBef>
                <a:spcPts val="0"/>
              </a:spcBef>
              <a:spcAft>
                <a:spcPts val="900"/>
              </a:spcAft>
            </a:pPr>
            <a:r>
              <a:rPr sz="1400" b="0">
                <a:solidFill>
                  <a:srgbClr val="555555"/>
                </a:solidFill>
                <a:latin typeface="Calibri"/>
              </a:rPr>
              <a:t>–  Facteurs probables absents du dataset : décision de l'arbitre, contexte et tension du match.</a:t>
            </a:r>
          </a:p>
        </p:txBody>
      </p:sp>
      <p:sp>
        <p:nvSpPr>
          <p:cNvPr id="7" name="TextBox 6"/>
          <p:cNvSpPr txBox="1"/>
          <p:nvPr/>
        </p:nvSpPr>
        <p:spPr>
          <a:xfrm>
            <a:off x="548640" y="5257800"/>
            <a:ext cx="11155680" cy="1188720"/>
          </a:xfrm>
          <a:prstGeom prst="rect">
            <a:avLst/>
          </a:prstGeom>
          <a:noFill/>
        </p:spPr>
        <p:txBody>
          <a:bodyPr wrap="square" anchor="t">
            <a:spAutoFit/>
          </a:bodyPr>
          <a:lstStyle/>
          <a:p>
            <a:pPr algn="ctr">
              <a:spcBef>
                <a:spcPts val="0"/>
              </a:spcBef>
              <a:spcAft>
                <a:spcPts val="600"/>
              </a:spcAft>
            </a:pPr>
            <a:r>
              <a:rPr sz="1400" b="0">
                <a:solidFill>
                  <a:srgbClr val="555555"/>
                </a:solidFill>
                <a:latin typeface="Calibri"/>
              </a:rPr>
              <a:t>Pipeline ré-exécuté indépendamment : tous les chiffres sont reproduits à l'identique.</a:t>
            </a:r>
          </a:p>
          <a:p>
            <a:pPr algn="ctr">
              <a:spcBef>
                <a:spcPts val="0"/>
              </a:spcBef>
              <a:spcAft>
                <a:spcPts val="600"/>
              </a:spcAft>
            </a:pPr>
            <a:r>
              <a:rPr sz="1600" b="1">
                <a:solidFill>
                  <a:srgbClr val="2563EB"/>
                </a:solidFill>
                <a:latin typeface="Calibri"/>
              </a:rPr>
              <a:t>Un faible pouvoir prédictif, établi rigoureusement et interprété lucidement, reste un résultat valable.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