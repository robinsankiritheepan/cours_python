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Prédiction des cartons jaunes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DB8E8"/>
                </a:solidFill>
                <a:latin typeface="Calibri"/>
              </a:rPr>
              <a:t>Machine Learning — supervisé &amp; non supervisé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8D6EE"/>
                </a:solidFill>
                <a:latin typeface="Calibri"/>
              </a:rPr>
              <a:t>FIFA World Cup 2026 · Player Performance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Kiritheepan Robinsan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8E8"/>
                </a:solidFill>
                <a:latin typeface="Calibri"/>
              </a:rPr>
              <a:t>ENSEA · Barcelona Summer Course 2026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8E8"/>
                </a:solidFill>
                <a:latin typeface="Calibri"/>
              </a:rPr>
              <a:t>Cible : yellow_cards  (0 = pas de carton, 1 = carton)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 jeu de données très déséquilibré</a:t>
            </a:r>
          </a:p>
        </p:txBody>
      </p:sp>
      <p:pic>
        <p:nvPicPr>
          <p:cNvPr id="6" name="Picture 5" descr="repartition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7487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554480"/>
            <a:ext cx="49377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Le fil rouge du projet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La cible yellow_cards vaut 1 dans seulement 9,8 % des cas.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A2B4A"/>
                </a:solidFill>
                <a:latin typeface="Calibri"/>
              </a:rPr>
              <a:t>Conséquence : l'accuracy est trompeuse.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Un modèle qui prédirait toujours « pas de carton » obtiendrait déjà 90,2 % d'accuracy — sans rien apprendre.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→ On raisonne donc en précision / rappel / F1 tout au long du projet.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Aucune variable n'est corrélée à la cible</a:t>
            </a:r>
          </a:p>
        </p:txBody>
      </p:sp>
      <p:pic>
        <p:nvPicPr>
          <p:cNvPr id="6" name="Picture 5" descr="correlations_c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554480"/>
            <a:ext cx="42976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Ce que ça dit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Toutes les corrélations restent sous |0,04| : aucun lien linéaire exploitable.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Mais une cohérence apparaît : les variables défensives (dégagements, tacles, interceptions) sont les seules du côté positif.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Ça ne condamne pas le projet : la corrélation ne voit que les liens simples. D'où le recours aux arbres, qui captent des combinaisons.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PRÉPARATION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Encodage &amp; séparation train /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Exclus : identifiants (player_id, name, match_id, date, stade, ville)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et forte cardinalité : nationality (48), club_name (122), team, opponent_team.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Encodés en one-hot : position, preferred_foot, tournament_stage, match_result.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Séparation train / test PAR JOUEUR — pas ligne par ligne.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Un joueur apparaît ~44 fois : un split naïf le mettrait des deux côtés.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C'est une fuite de données — le modèle le reconnaîtrait au lieu de généraliser.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Résultat : 43 726 / 10 874 lignes, et zéro joueur en commun (vérifié).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SUPERVISÉ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Trois modèles réglés par GridSearchCV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Arbre de décision · Forêt aléatoire · Gradient Boosting.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GridSearchCV avec scoring = "f1", validation croisée, même jeu de test final.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Le piège du déséquilibre, concrètement 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sans correction, la forêt prédit toujours 0 → F1 = 0.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Random Forest → class_weight = "balanced".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Gradient Boosting → sample_weight équilibré (pas de class_weight natif).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Les erreurs sur la classe rare pèsent alors ~9×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Comparaison des trois modèles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1206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Métrique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Arbre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Rand. Forest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Grad. Boost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Précision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Rappel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0,407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0,412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0,181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B4A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B4A"/>
                          </a:solidFill>
                        </a:rPr>
                        <a:t>0,543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omparaison_metr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852160" cy="30572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26280"/>
            <a:ext cx="11247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Lecture : </a:t>
            </a:r>
            <a:r>
              <a:rPr sz="1500" b="0">
                <a:solidFill>
                  <a:srgbClr val="1A2B4A"/>
                </a:solidFill>
                <a:latin typeface="Calibri"/>
              </a:rPr>
              <a:t>l'arbre a la meilleure accuracy mais ne détecte que 125 cartons sur 1 000 (rappel 12,5 %) — or un modèle trivial « toujours 0 » ferait 90,2 %. Il fait donc moins bien qu'un modèle qui n'apprend rien. Le rééquilibrage porte le rappel de RF et GB à ~40 %. Meilleur F1 : Random Forest (0,181).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ERREURS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Matrices de confusion</a:t>
            </a:r>
          </a:p>
        </p:txBody>
      </p:sp>
      <p:pic>
        <p:nvPicPr>
          <p:cNvPr id="6" name="Picture 5" descr="comparaison_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9875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46320"/>
            <a:ext cx="11064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Comment lire : </a:t>
            </a:r>
            <a:r>
              <a:rPr sz="1500" b="0">
                <a:solidFill>
                  <a:srgbClr val="1A2B4A"/>
                </a:solidFill>
                <a:latin typeface="Calibri"/>
              </a:rPr>
              <a:t>diagonale = bonnes prédictions. Hors-diagonale : en haut à droite les faux positifs (carton annoncé à tort), en bas à gauche les faux négatifs (carton non anticipé).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INTERPRÉTATION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Faux positifs vs faux négatifs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Faux positif = signaler à tort un joueur · Faux négatif = rater un vrai carton.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Dans ce contexte, le faux positif est le plus grave : on ne veut pas pénaliser injustement.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Or Random Forest : 3 098 faux positifs contre 593 faux négatifs.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Elle se trompe 5 fois plus souvent dans le sens jugé le plus grave.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Sur 3 505 alertes « carton », seules 407 sont justes → ~9 alertes sur 10 sont infondées.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2B4A"/>
                </a:solidFill>
                <a:latin typeface="Calibri"/>
              </a:rPr>
              <a:t>•  → Le F1 n'est pas aligné sur la priorité métier.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555555"/>
                </a:solidFill>
                <a:latin typeface="Calibri"/>
              </a:rPr>
              <a:t>–  Viser la précision, ou relever le seuil de décision, serait préférable pour cet usage.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1 — ROC /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 capacité de discrimination, tous seuils confondus</a:t>
            </a:r>
          </a:p>
        </p:txBody>
      </p:sp>
      <p:pic>
        <p:nvPicPr>
          <p:cNvPr id="6" name="Picture 5" descr="courbe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94960" cy="4624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645920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AUC ≈ 0,5 : à peine mieux que le hasard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0,506 · 0,546 · 0,543 — les trois courbes frôlent la diagonale.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L'éclairage décisif : la ROC teste tous les seuils, pas seulement 50 %.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Le gain de F1 obtenu par rééquilibrage traduisait donc surtout un déplacement du seuil (modèle plus « alarmiste »), pas une vraie capacité à séparer les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2 — INTERPRÉTABILITÉ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 piège : le biais de cardinalité</a:t>
            </a:r>
          </a:p>
        </p:txBody>
      </p:sp>
      <p:pic>
        <p:nvPicPr>
          <p:cNvPr id="6" name="Picture 5" descr="importance_compara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572" y="1371600"/>
            <a:ext cx="8262375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120640"/>
            <a:ext cx="11247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Le diagnostic : </a:t>
            </a:r>
            <a:r>
              <a:rPr sz="1500" b="0">
                <a:solidFill>
                  <a:srgbClr val="1A2B4A"/>
                </a:solidFill>
                <a:latin typeface="Calibri"/>
              </a:rPr>
              <a:t>l'importance native place jersey_number en tête — aucun sens footballistique. Cette mesure favorise les variables à nombreuses valeurs distinctes. L'importance par permutation tranche : 0,128 → 0,008, un effondrement d'un facteur ~16. Aucune variable n'a d'effet réellement marquant.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2 —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Interprétation globale</a:t>
            </a:r>
          </a:p>
        </p:txBody>
      </p:sp>
      <p:pic>
        <p:nvPicPr>
          <p:cNvPr id="6" name="Picture 5" descr="shap_summar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97" y="1280160"/>
            <a:ext cx="4310205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55448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Comment lire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Chaque point = un joueur. Rouge = valeur haute de la variable, bleu = valeur basse.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À droite = pousse vers « carton », à gauche = vers « pas de carton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defensive_contribution donne la relation la plus cohérente : rouge à droite, bleu à gauche — plus d'engagement défensif, plus de risque.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A2B4A"/>
                </a:solidFill>
                <a:latin typeface="Calibri"/>
              </a:rPr>
              <a:t>Mais l'échelle (−0,04 à +0,03) confirme un signal très faible.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2 — CAS INDIVIDUEL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SHAP waterfall — un joueur</a:t>
            </a:r>
          </a:p>
        </p:txBody>
      </p:sp>
      <p:pic>
        <p:nvPicPr>
          <p:cNvPr id="6" name="Picture 5" descr="shap_waterfall_joueu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284821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46304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Comment lire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On part de la prédiction moyenne (0,5) pour arriver à celle du joueur (0,443).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Bleu → pousse vers « pas de carton 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02A2A"/>
                </a:solidFill>
                <a:latin typeface="Calibri"/>
              </a:rPr>
              <a:t>Rouge → pousse vers « carton 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Ici : un creativity_score très élevé (99) réduit le risque. total_minutes_tournament pousse en sens inverse, mais de façon négligeable.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3 — NON SUPERVISÉ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PCA — réduction de dimension</a:t>
            </a:r>
          </a:p>
        </p:txBody>
      </p:sp>
      <p:pic>
        <p:nvPicPr>
          <p:cNvPr id="6" name="Picture 5" descr="pca_variance_expliqu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394960" cy="3220656"/>
          </a:xfrm>
          <a:prstGeom prst="rect">
            <a:avLst/>
          </a:prstGeom>
        </p:spPr>
      </p:pic>
      <p:pic>
        <p:nvPicPr>
          <p:cNvPr id="7" name="Picture 6" descr="pca_par_po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765" y="1325880"/>
            <a:ext cx="456015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292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 composantes = 30,8 % de l'information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292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Coloré par poste : les gardiens (rose) se détachent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11155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À retenir : </a:t>
            </a:r>
            <a:r>
              <a:rPr sz="1500" b="0">
                <a:solidFill>
                  <a:srgbClr val="1A2B4A"/>
                </a:solidFill>
                <a:latin typeface="Calibri"/>
              </a:rPr>
              <a:t>la cible n'est pas utilisée pour construire les groupes — elle ne sert qu'à interpréter après coup. Malgré 70 % d'information perdue, une structure nette apparaît, expliquée par le poste des joueurs.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PARTIE 3 —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KMeans vs DBSCAN</a:t>
            </a:r>
          </a:p>
        </p:txBody>
      </p:sp>
      <p:pic>
        <p:nvPicPr>
          <p:cNvPr id="6" name="Picture 5" descr="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74" y="1325880"/>
            <a:ext cx="4097452" cy="3200400"/>
          </a:xfrm>
          <a:prstGeom prst="rect">
            <a:avLst/>
          </a:prstGeom>
        </p:spPr>
      </p:pic>
      <p:pic>
        <p:nvPicPr>
          <p:cNvPr id="7" name="Picture 6" descr="dbscan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954" y="1325880"/>
            <a:ext cx="4097452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6177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KMeans (k=4) — silhouette 0,135 : groupes chevauchants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6177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DBSCAN — 2 clusters nets + 27 points de bruit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A2B4A"/>
                </a:solidFill>
                <a:latin typeface="Calibri"/>
              </a:rPr>
              <a:t>KMeans cherche des groupes convexes de taille comparable : il ne retrouve pas les postes réels. DBSCAN raisonne par densité et isole 2 clusters nets.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2B4A"/>
                </a:solidFill>
                <a:latin typeface="Calibri"/>
              </a:rPr>
              <a:t>Le cluster isolé est 3× plus riche en gardiens (18,2 % contre 6,7 %) — mais le taux de cartons y est quasi identique (9,9 % vs 9,6 %) : la structure reflète le poste, pas les cartons.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8E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Quatre approches, un même constat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2471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1A2B4A"/>
                </a:solidFill>
                <a:latin typeface="Calibri"/>
              </a:rPr>
              <a:t>•  Corrélation : aucune variable au-dessus de |0,04|.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1A2B4A"/>
                </a:solidFill>
                <a:latin typeface="Calibri"/>
              </a:rPr>
              <a:t>•  Modèles supervisés : AUC de 0,506 à 0,546, à peine mieux que le hasard.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1A2B4A"/>
                </a:solidFill>
                <a:latin typeface="Calibri"/>
              </a:rPr>
              <a:t>•  Permutation &amp; SHAP : effets individuels minuscules.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1A2B4A"/>
                </a:solidFill>
                <a:latin typeface="Calibri"/>
              </a:rPr>
              <a:t>•  Clustering : la structure reflète le poste, pas les cartons.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1A2B4A"/>
                </a:solidFill>
                <a:latin typeface="Calibri"/>
              </a:rPr>
              <a:t>•  → Les cartons jaunes ne sont pas prédictibles à partir de ces variables.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–  La convergence de 4 méthodes différentes rend le constat solide : ce n'est pas un modèle mal réglé.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–  Facteurs probables absents du dataset : décision de l'arbitre, contexte et tension du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5780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Pipeline ré-exécuté indépendamment : tous les chiffres sont reproduits à l'identique.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Un faible pouvoir prédictif, établi rigoureusement et interprété lucidement, reste un résultat valable.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