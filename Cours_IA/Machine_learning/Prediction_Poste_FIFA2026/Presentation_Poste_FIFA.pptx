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Prédiction du poste d'un joueur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9DB8E8"/>
                </a:solidFill>
                <a:latin typeface="Calibri"/>
              </a:rPr>
              <a:t>Machine Learning — supervisé &amp; non supervisé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8D6EE"/>
                </a:solidFill>
                <a:latin typeface="Calibri"/>
              </a:rPr>
              <a:t>FIFA World Cup 2026 · Player Performance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Kiritheepan Robinsan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DB8E8"/>
                </a:solidFill>
                <a:latin typeface="Calibri"/>
              </a:rPr>
              <a:t>ENSEA · Barcelona Summer Course 2026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DB8E8"/>
                </a:solidFill>
                <a:latin typeface="Calibri"/>
              </a:rPr>
              <a:t>Cible : position — 4 classes (Défenseur · Attaquant · Gardien · Milieu)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Dans la continuité du notebook S5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2B4A"/>
                </a:solidFill>
                <a:latin typeface="Calibri"/>
              </a:rPr>
              <a:t>•  L'énoncé demande la même cible que l'expérience précédente.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Mon S5_P1_Fifa_Multiclasse prédisait déjà position : Arbre → KNN → Naive Bayes.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Meilleur score obtenu alors : 89 % d'accuracy (KNN, k=27).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2B4A"/>
                </a:solidFill>
                <a:latin typeface="Calibri"/>
              </a:rPr>
              <a:t>•  Ce projet reprend la même cible, avec une méthodologie renforcée :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Random Forest et Gradient Boosting réglés par GridSearchCV ;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split train/test PAR JOUEUR (le S5 ne le faisait pas) ;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détection d'une fuite de données ; SHAP ; PCA/ICA/t-SNE + clustering.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LES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 postes, déséquilibre 3:1</a:t>
            </a:r>
          </a:p>
        </p:txBody>
      </p:sp>
      <p:pic>
        <p:nvPicPr>
          <p:cNvPr id="6" name="Picture 5" descr="repartition_po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852160" cy="34015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Pourquoi le F1 macro ?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18 900 défenseurs contre 6 300 gardiens : un rapport de 3 pour 1.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Le F1 macro calcule le F1 de chaque classe puis en fait la moyenne non pondérée.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A2B4A"/>
                </a:solidFill>
                <a:latin typeface="Calibri"/>
              </a:rPr>
              <a:t>Les 4 postes comptent donc à égalité — impossible de « gagner » en négligeant les gardiens.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⚠ FUITE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jersey_number trahit le poste</a:t>
            </a:r>
          </a:p>
        </p:txBody>
      </p:sp>
      <p:pic>
        <p:nvPicPr>
          <p:cNvPr id="6" name="Picture 5" descr="fuite_jersey_nu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400800" cy="32775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55448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Zéro chevauchement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A2B4A"/>
                </a:solidFill>
                <a:latin typeface="Calibri"/>
              </a:rPr>
              <a:t>Gardien 1–3 · Défenseur 4–12 · Milieu 13–20 · Attaquant 21–26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Une seule règle donnerait 100 % d'accuracy sans rien apprendre du jeu.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Le numéro est attribué PARCE QUE le joueur occupe ce poste : ce n'est pas une caractéristique de son jeu.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→ Variable exclue.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PRÉPARATION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Séparer par joueur, pas par ligne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2B4A"/>
                </a:solidFill>
                <a:latin typeface="Calibri"/>
              </a:rPr>
              <a:t>•  Chaque joueur apparaît ~44 fois — et son poste ne change JAMAIS.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Un split ligne par ligne mettrait le même joueur des deux côtés.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Le modèle mémoriserait les joueurs au lieu d'apprendre ce qui définit un poste.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2B4A"/>
                </a:solidFill>
                <a:latin typeface="Calibri"/>
              </a:rPr>
              <a:t>•  On sépare donc les 1 248 joueurs, pas les 54 600 lignes.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43 726 lignes d'entraînement · 10 874 de test · 0 joueur en commun (vérifié).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2B4A"/>
                </a:solidFill>
                <a:latin typeface="Calibri"/>
              </a:rPr>
              <a:t>•  Autres exclusions : identifiants, nationality, club_name, team, opponent_team.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Conservées : les stats de gardien (saves, punches…) — ce sont de vraies actions de match.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1 —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Trois modèles comparés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52120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Métrique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Arbre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Rand. Forest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Grad. Boost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B4A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0.914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0.958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0.958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B4A"/>
                          </a:solidFill>
                        </a:rPr>
                        <a:t>Précision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0.918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0.961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0.960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B4A"/>
                          </a:solidFill>
                        </a:rPr>
                        <a:t>Rappel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0.913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0.955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0.956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B4A"/>
                          </a:solidFill>
                        </a:rPr>
                        <a:t>F1 macro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0.915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0.958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0.958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B4A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0.960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0.997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0.997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comparaison_metr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29612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Le résultat : </a:t>
            </a:r>
            <a:r>
              <a:rPr sz="1500" b="0">
                <a:solidFill>
                  <a:srgbClr val="1A2B4A"/>
                </a:solidFill>
                <a:latin typeface="Calibri"/>
              </a:rPr>
              <a:t>Random Forest et Gradient Boosting sont à égalité (0.958 de F1 macro), loin devant l'arbre seul (0.915). L'AUC de 0,997 traduit une séparation quasi parfaite. Mon KNN de S5 faisait 89 % — ici 95,8 %, avec un split PLUS strict et une fuite en moins.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1 — ERREURS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Où le modèle se trompe, et pourquoi</a:t>
            </a:r>
          </a:p>
        </p:txBody>
      </p:sp>
      <p:pic>
        <p:nvPicPr>
          <p:cNvPr id="6" name="Picture 5" descr="matrices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402" y="1280160"/>
            <a:ext cx="9262715" cy="30175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3040" y="4572000"/>
          <a:ext cx="9235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480"/>
                <a:gridCol w="3078480"/>
                <a:gridCol w="307848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Confusion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Lecture footballistique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2B4A"/>
                          </a:solidFill>
                        </a:rPr>
                        <a:t>Attaquant → Milieu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4A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4A"/>
                          </a:solidFill>
                        </a:rPr>
                        <a:t>la frontière la plus floue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2B4A"/>
                          </a:solidFill>
                        </a:rPr>
                        <a:t>Milieu → Attaquant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4A"/>
                          </a:solidFill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4A"/>
                          </a:solidFill>
                        </a:rPr>
                        <a:t>milieux offensifs ≈ attaquants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2B4A"/>
                          </a:solidFill>
                        </a:rPr>
                        <a:t>Gardien → Défenseur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4A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4A"/>
                          </a:solidFill>
                        </a:rPr>
                        <a:t>gardiens à 0 arrêt sur le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En multiclasse : </a:t>
            </a:r>
            <a:r>
              <a:rPr sz="1300" b="0">
                <a:solidFill>
                  <a:srgbClr val="1A2B4A"/>
                </a:solidFill>
                <a:latin typeface="Calibri"/>
              </a:rPr>
              <a:t>chaque erreur est à la fois un faux négatif pour la vraie classe et un faux positif pour la classe prédite.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1 — LE CAS DES GARDIENS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Précision élevée, rappel plus faible</a:t>
            </a:r>
          </a:p>
        </p:txBody>
      </p:sp>
      <p:pic>
        <p:nvPicPr>
          <p:cNvPr id="6" name="Picture 5" descr="f1_par_po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760720" cy="31072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Un arbitrage concret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Précision 0.979 : quand le modèle dit « gardien », il a presque toujours raison.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Rappel 0.941 : il en rate quand même 72.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Pourquoi ? Seuls 2 005 gardiens sur 6 300 ont au moins un arrêt. Un gardien à 0 arrêt ressemble à un défenseur passif.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Recruteur → le rappel prime. Étiquetage auto → la précision prime.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1 — ROC / 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Une séparation quasi parfaite</a:t>
            </a:r>
          </a:p>
        </p:txBody>
      </p:sp>
      <p:pic>
        <p:nvPicPr>
          <p:cNvPr id="6" name="Picture 5" descr="courbes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394960" cy="42286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17373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AUC ≈ 0,997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Les courbes sont tracées one-vs-rest : chaque poste est opposé à tous les autres.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Elles montent quasiment à l'angle supérieur gauche — le modèle sépare excellemment les 4 classes, à tous les seuils de décision.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A2B4A"/>
                </a:solidFill>
                <a:latin typeface="Calibri"/>
              </a:rPr>
              <a:t>Contraste frappant avec un projet où l'AUC frôlerait 0,5 : ici le signal est bien réel.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2 — INTERPRÉTABILITÉ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Les deux mesures sont d'accord</a:t>
            </a:r>
          </a:p>
        </p:txBody>
      </p:sp>
      <p:pic>
        <p:nvPicPr>
          <p:cNvPr id="6" name="Picture 5" descr="importance_compara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95" y="1325880"/>
            <a:ext cx="8609729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074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Un résultat sain : </a:t>
            </a:r>
            <a:r>
              <a:rPr sz="1500" b="0">
                <a:solidFill>
                  <a:srgbClr val="1A2B4A"/>
                </a:solidFill>
                <a:latin typeface="Calibri"/>
              </a:rPr>
              <a:t>importance native et importance par permutation classent les variables dans le MÊME ordre — defensive_contribution, offensive_contribution, creativity_score, total_goals_tournament, pass_accuracy, height_cm. Et toutes ont un sens footballistique évident. Le modèle a appris quelque chose de réel.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2 — 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Ce qui pousse vers « Gardien »</a:t>
            </a:r>
          </a:p>
        </p:txBody>
      </p:sp>
      <p:pic>
        <p:nvPicPr>
          <p:cNvPr id="6" name="Picture 5" descr="shap_summary_gardi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120640" cy="49628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6459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Comment lire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Chaque point = un joueur. Rouge = valeur haute, bleu = valeur basse.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À droite = pousse vers « Gardien ».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On lit clairement que des valeurs BASSES de contribution offensive et défensive (bleu à droite) poussent vers ce poste.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Logique : un gardien ne participe ni au pressing ni à l'attaque.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2 — CAS INDIVIDUEL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SHAP waterfall — un gardien</a:t>
            </a:r>
          </a:p>
        </p:txBody>
      </p:sp>
      <p:pic>
        <p:nvPicPr>
          <p:cNvPr id="6" name="Picture 5" descr="shap_waterfall_gardi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4373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La construction d'une prédiction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2B4A"/>
                </a:solidFill>
                <a:latin typeface="Calibri"/>
              </a:rPr>
              <a:t>On part de la probabilité moyenne d'être gardien (~11,5 %, leur part dans les données).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C02A2A"/>
                </a:solidFill>
                <a:latin typeface="Calibri"/>
              </a:rPr>
              <a:t>Rouge → pousse vers « Gardien »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D4ED8"/>
                </a:solidFill>
                <a:latin typeface="Calibri"/>
              </a:rPr>
              <a:t>Bleu → éloigne de « Gardien »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2B4A"/>
                </a:solidFill>
                <a:latin typeface="Calibri"/>
              </a:rPr>
              <a:t>Pour ce joueur, l'absence de contribution offensive et défensive suffit à faire basculer la prédiction.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3 — NON SUPERVISÉ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Trois réductions de dimension</a:t>
            </a:r>
          </a:p>
        </p:txBody>
      </p:sp>
      <p:pic>
        <p:nvPicPr>
          <p:cNvPr id="6" name="Picture 5" descr="comparaison_reduction_dime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1325880"/>
            <a:ext cx="102870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1663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Le résultat surprenant : </a:t>
            </a:r>
            <a:r>
              <a:rPr sz="1500" b="0">
                <a:solidFill>
                  <a:srgbClr val="1A2B4A"/>
                </a:solidFill>
                <a:latin typeface="Calibri"/>
              </a:rPr>
              <a:t>silhouette selon les postes réels — PCA -0.008 · ICA +0.039 · t-SNE -0.017. Nuls, voire négatifs : dans l'espace réduit, les postes ne se séparent PAS — alors qu'on vient de les prédire à 95,8 % en supervisé.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3 —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Les clusters ne retrouvent pas les postes</a:t>
            </a:r>
          </a:p>
        </p:txBody>
      </p:sp>
      <p:pic>
        <p:nvPicPr>
          <p:cNvPr id="6" name="Picture 5" descr="kmeans_vs_po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156" y="1325880"/>
            <a:ext cx="9011208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1663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Pureté 42.5 % : </a:t>
            </a:r>
            <a:r>
              <a:rPr sz="1500" b="0">
                <a:solidFill>
                  <a:srgbClr val="1A2B4A"/>
                </a:solidFill>
                <a:latin typeface="Calibri"/>
              </a:rPr>
              <a:t>en attribuant à chaque cluster le poste majoritaire qu'il contient, on ne classe correctement que 4 joueurs sur 10 (un tirage pondéré ferait déjà ~30 %). DBSCAN aboutit au même verdict : 2 clusters qui ne recoupent pas les postes.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Le vrai résultat, c'est le contraste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45920" y="1371600"/>
          <a:ext cx="88696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4840"/>
                <a:gridCol w="443484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</a:rPr>
                        <a:t>Approche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</a:rPr>
                        <a:t>Résultat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2B4A"/>
                          </a:solidFill>
                        </a:rPr>
                        <a:t>Prédiction supervisée du poste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2B4A"/>
                          </a:solidFill>
                        </a:rPr>
                        <a:t>F1 macro 0.958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2B4A"/>
                          </a:solidFill>
                        </a:rPr>
                        <a:t>Pureté des clusters non supervisés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2B4A"/>
                          </a:solidFill>
                        </a:rPr>
                        <a:t>42.5 %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292608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Comment un signal aussi fort peut-il être invisible en non supervisé ?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Le supervisé sait quoi chercher. On lui donne la réponse : il isole les quelques variables qui discriminent et les combine finement, même si elles pèsent peu dans la variance totale.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Le non supervisé suit la variance dominante. PCA et KMeans se laissent guider par ce qui varie le plus parmi les 69 variables — ici le niveau de performance sur le match, pas le poste. Le signal « poste » existe, mais il est noyé.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→ L'absence de structure en clustering ne signifie pas l'absence de signal exploitable.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