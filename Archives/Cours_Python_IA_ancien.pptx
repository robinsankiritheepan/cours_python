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3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4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5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6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7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8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9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(kW)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75</c:v>
                </c:pt>
                <c:pt idx="2">
                  <c:v>120</c:v>
                </c:pt>
                <c:pt idx="3">
                  <c:v>155</c:v>
                </c:pt>
                <c:pt idx="4">
                  <c:v>180</c:v>
                </c:pt>
                <c:pt idx="5">
                  <c:v>165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(kW)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</c:v>
                </c:pt>
                <c:pt idx="1">
                  <c:v>95</c:v>
                </c:pt>
                <c:pt idx="2">
                  <c:v>80</c:v>
                </c:pt>
                <c:pt idx="3">
                  <c:v>65</c:v>
                </c:pt>
                <c:pt idx="4">
                  <c:v>50</c:v>
                </c:pt>
                <c:pt idx="5">
                  <c:v>75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A355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Maisons</c:v>
                </c:pt>
              </c:strCache>
            </c:strRef>
          </c:tx>
          <c:spPr>
            <a:solidFill>
              <a:srgbClr val="02C39A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3.1</c:v>
                </c:pt>
                <c:pt idx="1">
                  <c:v>4.4</c:v>
                </c:pt>
                <c:pt idx="2">
                  <c:v>4.1</c:v>
                </c:pt>
                <c:pt idx="3">
                  <c:v>5.6</c:v>
                </c:pt>
                <c:pt idx="4">
                  <c:v>5.2</c:v>
                </c:pt>
                <c:pt idx="5">
                  <c:v>6.9</c:v>
                </c:pt>
                <c:pt idx="6">
                  <c:v>6.1</c:v>
                </c:pt>
                <c:pt idx="7">
                  <c:v>7.8</c:v>
                </c:pt>
                <c:pt idx="8">
                  <c:v>7.4</c:v>
                </c:pt>
                <c:pt idx="9">
                  <c:v>9.2</c:v>
                </c:pt>
                <c:pt idx="10">
                  <c:v>8.6</c:v>
                </c:pt>
                <c:pt idx="11">
                  <c:v>10.4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Prédictions ŷ (sur la droite)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3.14</c:v>
                </c:pt>
                <c:pt idx="1">
                  <c:v>4.15</c:v>
                </c:pt>
                <c:pt idx="2">
                  <c:v>4.63</c:v>
                </c:pt>
                <c:pt idx="3">
                  <c:v>5.17</c:v>
                </c:pt>
                <c:pt idx="4">
                  <c:v>5.71</c:v>
                </c:pt>
                <c:pt idx="5">
                  <c:v>6.18</c:v>
                </c:pt>
                <c:pt idx="6">
                  <c:v>6.72</c:v>
                </c:pt>
                <c:pt idx="7">
                  <c:v>7.2</c:v>
                </c:pt>
                <c:pt idx="8">
                  <c:v>7.87</c:v>
                </c:pt>
                <c:pt idx="9">
                  <c:v>8.55</c:v>
                </c:pt>
                <c:pt idx="10">
                  <c:v>9.23</c:v>
                </c:pt>
                <c:pt idx="11">
                  <c:v>10.24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Plus de variables pertinentes = moins d'erreur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 (millions)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variable
(S1_P2)</c:v>
                  </c:pt>
                  <c:pt idx="1">
                    <c:v>4 variables
(S2_P1)</c:v>
                  </c:pt>
                  <c:pt idx="2">
                    <c:v>12 variables
(S2_P2)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1.71</c:v>
                </c:pt>
                <c:pt idx="1">
                  <c:v>1.32</c:v>
                </c:pt>
                <c:pt idx="2">
                  <c:v>1.11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sigmoïde : le score devient probabilité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σ(z)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0.007</c:v>
                </c:pt>
                <c:pt idx="2">
                  <c:v>0.018</c:v>
                </c:pt>
                <c:pt idx="3">
                  <c:v>0.047</c:v>
                </c:pt>
                <c:pt idx="4">
                  <c:v>0.119</c:v>
                </c:pt>
                <c:pt idx="5">
                  <c:v>0.269</c:v>
                </c:pt>
                <c:pt idx="6">
                  <c:v>0.5</c:v>
                </c:pt>
                <c:pt idx="7">
                  <c:v>0.731</c:v>
                </c:pt>
                <c:pt idx="8">
                  <c:v>0.881</c:v>
                </c:pt>
                <c:pt idx="9">
                  <c:v>0.953</c:v>
                </c:pt>
                <c:pt idx="10">
                  <c:v>0.982</c:v>
                </c:pt>
                <c:pt idx="11">
                  <c:v>0.993</c:v>
                </c:pt>
                <c:pt idx="12">
                  <c:v>0.998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« vallée » : le meilleur k au creux (k=3, S4_P1)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1.42</c:v>
                </c:pt>
                <c:pt idx="1">
                  <c:v>1.28</c:v>
                </c:pt>
                <c:pt idx="2">
                  <c:v>1.216</c:v>
                </c:pt>
                <c:pt idx="3">
                  <c:v>1.24</c:v>
                </c:pt>
                <c:pt idx="4">
                  <c:v>1.27</c:v>
                </c:pt>
                <c:pt idx="5">
                  <c:v>1.31</c:v>
                </c:pt>
                <c:pt idx="6">
                  <c:v>1.33</c:v>
                </c:pt>
                <c:pt idx="7">
                  <c:v>1.36</c:v>
                </c:pt>
                <c:pt idx="8">
                  <c:v>1.38</c:v>
                </c:pt>
                <c:pt idx="9">
                  <c:v>1.41</c:v>
                </c:pt>
                <c:pt idx="10">
                  <c:v>1.43</c:v>
                </c:pt>
                <c:pt idx="11">
                  <c:v>1.45</c:v>
                </c:pt>
                <c:pt idx="12">
                  <c:v>1.46</c:v>
                </c:pt>
                <c:pt idx="13">
                  <c:v>1.48</c:v>
                </c:pt>
                <c:pt idx="14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feature_importances_ (arbre MBA, S4_P2)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work_exp</c:v>
                  </c:pt>
                  <c:pt idx="1">
                    <c:v>international</c:v>
                  </c:pt>
                  <c:pt idx="2">
                    <c:v>application_id</c:v>
                  </c:pt>
                  <c:pt idx="3">
                    <c:v>gpa</c:v>
                  </c:pt>
                  <c:pt idx="4">
                    <c:v>gender</c:v>
                  </c:pt>
                  <c:pt idx="5">
                    <c:v>gmat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0.094</c:v>
                </c:pt>
                <c:pt idx="3">
                  <c:v>0.204</c:v>
                </c:pt>
                <c:pt idx="4">
                  <c:v>0.226</c:v>
                </c:pt>
                <c:pt idx="5">
                  <c:v>0.475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RMSE vs max_depth : la courbe qui révèle tout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train</c:v>
                </c:pt>
              </c:strCache>
            </c:strRef>
          </c:tx>
          <c:spPr>
            <a:solidFill>
              <a:srgbClr val="5A6B8C"/>
            </a:solidFill>
            <a:ln w="31750" cap="flat">
              <a:solidFill>
                <a:srgbClr val="5A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8C"/>
              </a:solidFill>
              <a:ln w="9525" cap="flat">
                <a:solidFill>
                  <a:srgbClr val="5A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</c:v>
                </c:pt>
                <c:pt idx="1">
                  <c:v>1.4</c:v>
                </c:pt>
                <c:pt idx="2">
                  <c:v>1.28</c:v>
                </c:pt>
                <c:pt idx="3">
                  <c:v>1.15</c:v>
                </c:pt>
                <c:pt idx="4">
                  <c:v>0.81</c:v>
                </c:pt>
                <c:pt idx="5">
                  <c:v>0.5</c:v>
                </c:pt>
                <c:pt idx="6">
                  <c:v>0.3</c:v>
                </c:pt>
                <c:pt idx="7">
                  <c:v>0.1</c:v>
                </c:pt>
                <c:pt idx="8">
                  <c:v>0.07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1.39</c:v>
                </c:pt>
                <c:pt idx="1">
                  <c:v>1.32</c:v>
                </c:pt>
                <c:pt idx="2">
                  <c:v>1.17</c:v>
                </c:pt>
                <c:pt idx="3">
                  <c:v>1.24</c:v>
                </c:pt>
                <c:pt idx="4">
                  <c:v>1.21</c:v>
                </c:pt>
                <c:pt idx="5">
                  <c:v>1.28</c:v>
                </c:pt>
                <c:pt idx="6">
                  <c:v>1.31</c:v>
                </c:pt>
                <c:pt idx="7">
                  <c:v>1.45</c:v>
                </c:pt>
                <c:pt idx="8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ROC : détections (TPR) vs fausses alertes (FPR)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Modèle (AUC ≈ 0.94)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0.05</c:v>
                  </c:pt>
                  <c:pt idx="2">
                    <c:v>0.1</c:v>
                  </c:pt>
                  <c:pt idx="3">
                    <c:v>0.2</c:v>
                  </c:pt>
                  <c:pt idx="4">
                    <c:v>0.3</c:v>
                  </c:pt>
                  <c:pt idx="5">
                    <c:v>0.5</c:v>
                  </c:pt>
                  <c:pt idx="6">
                    <c:v>0.7</c:v>
                  </c:pt>
                  <c:pt idx="7">
                    <c:v>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0.62</c:v>
                </c:pt>
                <c:pt idx="2">
                  <c:v>0.74</c:v>
                </c:pt>
                <c:pt idx="3">
                  <c:v>0.85</c:v>
                </c:pt>
                <c:pt idx="4">
                  <c:v>0.91</c:v>
                </c:pt>
                <c:pt idx="5">
                  <c:v>0.96</c:v>
                </c:pt>
                <c:pt idx="6">
                  <c:v>0.99</c:v>
                </c:pt>
                <c:pt idx="7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Hasard (AUC = 0.5)</c:v>
                </c:pt>
              </c:strCache>
            </c:strRef>
          </c:tx>
          <c:spPr>
            <a:solidFill>
              <a:srgbClr val="5A6B8C"/>
            </a:solidFill>
            <a:ln w="31750" cap="flat">
              <a:solidFill>
                <a:srgbClr val="5A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8C"/>
              </a:solidFill>
              <a:ln w="9525" cap="flat">
                <a:solidFill>
                  <a:srgbClr val="5A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0.05</c:v>
                  </c:pt>
                  <c:pt idx="2">
                    <c:v>0.1</c:v>
                  </c:pt>
                  <c:pt idx="3">
                    <c:v>0.2</c:v>
                  </c:pt>
                  <c:pt idx="4">
                    <c:v>0.3</c:v>
                  </c:pt>
                  <c:pt idx="5">
                    <c:v>0.5</c:v>
                  </c:pt>
                  <c:pt idx="6">
                    <c:v>0.7</c:v>
                  </c:pt>
                  <c:pt idx="7">
                    <c:v>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200 epochs sur un réseau de 13 paramètres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Temps (ms)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CPU
(noyau global)</c:v>
                  </c:pt>
                  <c:pt idx="1">
                    <c:v>CPU
(noyau ROCm)</c:v>
                  </c:pt>
                  <c:pt idx="2">
                    <c:v>GPU
(Radeon 880M)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111</c:v>
                </c:pt>
                <c:pt idx="1">
                  <c:v>72</c:v>
                </c:pt>
                <c:pt idx="2">
                  <c:v>478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05156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705856" y="117043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4" name="Shape 2"/>
          <p:cNvSpPr/>
          <p:nvPr/>
        </p:nvSpPr>
        <p:spPr>
          <a:xfrm>
            <a:off x="5833872" y="117043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5" name="Shape 3"/>
          <p:cNvSpPr/>
          <p:nvPr/>
        </p:nvSpPr>
        <p:spPr>
          <a:xfrm>
            <a:off x="5961888" y="117043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6" name="Text 4"/>
          <p:cNvSpPr/>
          <p:nvPr/>
        </p:nvSpPr>
        <p:spPr>
          <a:xfrm>
            <a:off x="5742432" y="1325880"/>
            <a:ext cx="277977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voyage complet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jour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[1, 2, 3, 4, 5]: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apprendre(python)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["S1","S2","S3","S4"]: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modele.fit(X_train, y_train)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modele.predict(X_test)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"Pret pour l'IA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&amp;  MACHINE LEARNING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complet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de cours qui accompagne tes notebooks 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bases Python (day1 → day5) jusqu'aux modèles 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(S1 → S9) et le Deep Learning.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parties</a:t>
            </a:r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parcours</a:t>
            </a:r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objectif : comprendre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parcours, un seul voyage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types, opérateurs, math, erreurs, fichiers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conditions, match, f-strings (+ exos vierges)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strings, listes, boucles, fonctions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dictionnaires, *args/**kwargs, POO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enumerate/zip, décorateurs, matplotlib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pandas : la porte d'entrée de la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MACHINE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exploration (EDA) + régression linéaire simple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régression multiple + 1re classification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KNN, Naive Bayes, classes déséquilibrées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arbres de décision, importances, frontières de décision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multiclasse (FIFA), sélection de features, EEG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forêts aléatoires, GridSearch, élagage, SHAP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Gradient Boosting, courbe ROC &amp; AUC, crédit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clustering : KMeans, DBSCAN, PCA &amp; t-SNE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 supervisé réel + DEEP LEARNING (PyTorch)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diapo renvoie au notebook où tu pratiques la notion — le duo cours + exercices.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: les fondations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faire parler les données, il faut parler Python. Types, structures, fonctions, POO,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et pandas — tout ce que les notebooks day1 à day5 mettent en pratique.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NOTEBOOK JUPYTER_NOTEBOOK/DAY1.IPYNB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base &amp; variables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92024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C'est quoi 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-42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entier, sans virgule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2.1, 3.0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à virgule (3.0 est un float !)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ou faux (majuscule obligatoire)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"hello"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 entre guillemets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4472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L'affectation  a = 3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73989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gauche : le NOM de la boîte. À droite : la VALEUR rangée dedans.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devine le type tout seul — et type(a) te le révèle.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 confonds pas  =  (affecter) et  ==  (comparer) !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2240280"/>
          </a:xfrm>
          <a:prstGeom prst="roundRect">
            <a:avLst>
              <a:gd name="adj" fmla="val 2857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Shape 7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1" name="Shape 8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2" name="Text 9"/>
          <p:cNvSpPr/>
          <p:nvPr/>
        </p:nvSpPr>
        <p:spPr>
          <a:xfrm>
            <a:off x="5010912" y="1463040"/>
            <a:ext cx="351129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(type(a))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2.1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(type(b))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'float'&gt;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(type(c))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361188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du notebook 🔎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01421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day1, l'exercice du cercle définit PI mais utilise pi : ça n'a marché que grâce au kernel ! Un notebook correct doit passer « Restart &amp; Run All ».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EXERCICES : CERCLE, CLÔTURES, ENTREPÔT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opérateurs : arithmétique, comparaison, logique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7830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vraie (toujours float)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 → 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entière (quotient)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// 5 →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(le reste)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17 % 5 →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puissance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** 3 →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3101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star :  //  et  %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60273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Combien de boîtes pleines, et combien il reste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57839 // 13 → 4449   ·   57839 % 13 → 2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plafond sans ceil :  -(-a // b)  (exo clôtures !)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→ booléen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 &gt;   &lt;=   &gt;=   ==   !=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&gt;= 3.5  renvoie True ou False — directement utilisable dans un if ou rangeable dans une variable.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: and, or, not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: les DEUX vraies  ·  or : AU MOINS une  ·  not : inverse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not &gt; and &gt; or.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Exo bourse : (gpa≥3.5 and assid&gt;80) or (assid==100 and gpa&gt;2)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DÉMOS D'ERREURS VOLONTAIRES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&amp; exceptions : lire, comprendre, gérer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801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ne comprend pas le code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eq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93976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854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incompatibles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"hello"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0906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inconnue (faute de frappe !)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print(gap)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04488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995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par zéro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 /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a /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ZeroDivisionError: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0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b vaut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-1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 autre erreur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input() renvoie TOUJOURS du texte 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message d'erreur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405993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BAS en HAUT : la dernière ligne donne le type et la cause ; la flèche au-dessus montre la ligne fautive. C'est la compétence n°1 du programmeur 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MATH, TIME, DATETIME, FICHIERS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bibliothèques standard essentielles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 π √ sin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 as m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m.pi, m.sqrt, m.hypot(a,b), m.radians (trigo = RADIANS !), ceil = plafond.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958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958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perf_counter()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code …  puis end − start = durée. sleep(n) met en pause.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2984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 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55664" y="1591056"/>
            <a:ext cx="20848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strptime(txt, "%Y, %H:%M")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→ date ; date2 − date1 = durée (timedelta).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480560" cy="1691640"/>
          </a:xfrm>
          <a:prstGeom prst="roundRect">
            <a:avLst>
              <a:gd name="adj" fmla="val 3784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" y="318211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18211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18211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37560"/>
            <a:ext cx="415137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lecture : fermé automatiquement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print(next(f))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"w" EFFACE tout, "a"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dad"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30632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66944" y="31729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vus dans day1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66944" y="3465576"/>
            <a:ext cx="32735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hypot(3.34**2 + 876**2) → 767 km d'hypoténuse ! hypot attend les DEUX côtés : hypot(3.34, 876).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file.close (sans parenthèses) ne ferme RIEN — on mentionne la fonction au lieu de l'appeler.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DAY1_2 · SECTIONS BONUS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des décisions : if / elif / else, match, ternaire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10: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"Station-service VITE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30: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"Niveau bas..."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"Tout va bien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SEUL bloc s'exécute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PREMIER vrai gagne.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≠ deux if séparés !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bug de day1_2 : remplacer if/elif par deux if indépendants → à 5 %, DEUX messages s'affichent au lieu d'un.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« teste SEULEMENT si les précédents étaient faux ».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case (Python 3.10+)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UNE valeur à plusieurs motifs ; case _ = joker (comme else).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ternaire + f-strings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"Oui" if age &gt;= 18 else "Non"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f"{gpa:.3f}" → 3 décimales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L'indentation fait le bloc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Deux-points « : » puis 4 espaces — en Python, l'indentation N'EST PAS décorative : c'est elle qui délimite le bloc 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 DNI ESPAGNOL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chaînes : index, slicing,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15568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82496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682496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496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82496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49424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2249424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49424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9424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16352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816352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6352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16352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1856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fin 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51460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" y="2624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: a[début:fin]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" y="291693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INCLUS, fin EXCLUE !  a[0:3] → "hel" (3 lettres)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a[-2:] → "lo"  ·  longueur = fin − début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Les chaînes sont IMMUTABLES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a[0] = 'p' → TypeError ! On ne modifie jamais une chaîne : on en crée une nouvelle (a.upper() renvoie du neuf).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1188720"/>
            <a:ext cx="384048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3" name="Shape 3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34" name="Shape 3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1463040"/>
            <a:ext cx="35112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a,b,c  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brut.strip()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enlève espaces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['a','b','c']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| 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.join(liste)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"a | b | c"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nettoyer → découper → recoller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pipeline de la data !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474720"/>
            <a:ext cx="384048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92624" y="3584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 les valeurs, is l'identité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92624" y="3877056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teste « même objet en mémoire » — piégeux (interning). Utilise == pour comparer ; is seulement pour x is None.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LE PIÈGE N°1 DE PYTHON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: mutables… et partagées 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 →  DEUX noms, UNE seule liste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77440" y="1600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600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1664208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1051560" y="1965960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via a…  b le voit aussi ! (et inversement)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a.copy()  →  DEUX listes indépendantes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" y="422452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fonctions aussi : n.append(4) modifie l'original, pas n = [...]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PAS une copie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2, 3] ?!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a.copy()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vraie copie ✓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a.append(6)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a.extend(b)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déverse b dans 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&amp; tuples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05993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liste.sort() trie SUR PLACE (renvoie None !) ; sorted(liste) renvoie du neuf.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(1,2,3) = liste verrouillée (immutable) — pour les données à protéger.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LA RECHERCHE BINAIRE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 for / while &amp; list comprehensions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range(10):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à 9 (10 exclu)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!= secret: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tant que...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+=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de la boucle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saute au tour suivant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dichotomie (exo du nombre secret)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Deviner le MILIEU, éliminer la moitié à chaque essai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milliards de possibilités → trouvé en 32 essais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log₂(2³²) = 32 — ta première leçon de complexité algorithmique.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554480"/>
          </a:xfrm>
          <a:prstGeom prst="roundRect">
            <a:avLst>
              <a:gd name="adj" fmla="val 4118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lignes...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range(6): carres.append(x**2)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ou 1 seule (comprehension)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[x**2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x%2==0]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0358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comprehension se LIT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332841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carré de x, pour chaque x de 0 à 5, si x est pair » — compacte, pythonique, rapide.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chrono (day2)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NÉGATIFS mesurés : end jamais re-mesuré ! Un résultat impossible = alerte bug.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EXERCICES : FACTORIELLE, FIBONACCI, CÉSAR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: le cœur de la réutilisation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factorial(n):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&lt;= 1: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 de base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factorial(n-1)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récursif = s'appelle soi-même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SANS cas de base → RecursionError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f(n=5): ...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valeur par défaut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multiples &amp; dépaquetage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nom, initiale, longueur  → un tuple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i, l = f("oriol")  → trois variables d'un coup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: 2 styles, 1 leçon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Récursif : élégant mais recalcule tout (exponentiel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Itératif : 2 variables qui glissent — linéaire, rapide.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beauté a parfois un coût : connais les deux.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: la mini-fonction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= lambda x: 2*x — jetable, parfaite en argument d'une autre fonction (higher-order).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: l'usine à fonctions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make_multiplier(2) fabrique une fonction qui SE SOUVIENT de x=2. Base des décorateurs (day4) !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LES NOMBRES PREMIERS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Générateurs : yield, la production à la demande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pairs(fin):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&lt; fin: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livre... et PAUSE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+= 2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reprend ICI ensuite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pairs(100):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0,2,4,...,98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vs yield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: renvoie UNE valeur, la fonction est FINIE.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: livre une valeur puis SE FIGE — prête à reprendre pour livrer la suivante.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jamais toute la liste en mémoire : des millions de valeurs sans saturer la RAM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aussi est « paresseux 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range(1_000_000_000) ne crée pas un milliard de nombres — il les fournit un à un pendant la boucle. C'est la « lazy evaluation ».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83464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Le générateur infini de day2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236976"/>
            <a:ext cx="3547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prime_numbers() sans limite → la boucle for ne s'arrête JAMAIS (il a fallu stopper le kernel : KeyboardInterrupt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générateur infini est un outil puissant… à consommer avec une limite ou un break.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classique : tester les diviseurs jusqu'à √n seulement.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EXERCICES : LE JOUEUR, LE COMPTEUR DE FRUITS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Dictionnaires : la structure clé → valeur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 =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"Apollo"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"equipage"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"cargo"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"glace"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"O2"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accès par CLÉ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k, v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vaisseau.items():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parcours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 pattern compteur (à vie !)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d[fruit] = d.get(fruit, 0) + 1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prends le compte actuel (ou 0 si première fois) et ajoute 1 » — tu compteras des choses toute ta vie de data scientist.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.get(clé, défaut)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lire SANS crash si la clé manque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.pop(clé)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retirer + récupérer la valeur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.items()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paires (clé, valeur) — pour boucler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.update(d2)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fusionner (écrase les clés communes)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.keys() / .values()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toutes les clés / valeurs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033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130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règles des clés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056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Uniques · immutables (str, nombre, tuple — pas de liste !) · les valeurs, elles, peuvent être n'importe quoi.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FONCTIONS FLEXIBLES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et **kwargs : accepter n'importe quoi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voyage(pays, *villes):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villes = TUPLE des extras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"Japon"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"Tokyo"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"Kyoto"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profil(nom, **infos):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infos = DICT des nommés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ville=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"Londres"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résumé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→ les arguments POSITIONNELS en plus, emballés en TUPLE.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→ les arguments NOMMÉS en plus, emballés en DICT.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secret des décorateurs (day4) et de print()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 multiply_all(*nombres)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= 1  puis  product *= 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à 1 (élément neutre de ×) — à 0, tout produit vaudrait 0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vide géré à part : len(numbers) == 0 → 0.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15468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2644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la POO…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55701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Jusqu'ici : des fonctions qui s'enchaînent (procédural).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POO regroupe données + comportements dans un MOULE : la classe. Suite → diapo suivante !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LA CLASSE VIRTUALPET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: classes, objets, attributs,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480560" cy="2468880"/>
          </a:xfrm>
          <a:prstGeom prst="roundRect">
            <a:avLst>
              <a:gd name="adj" fmla="val 259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15137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VirtualPet: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__init__(self, name):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constructeur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attribut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= 100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play(self, minutes):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méthode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-= minutes * 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 = VirtualPet(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"Sparky"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instance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pet1.play(20)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energy : 100 → 60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88720"/>
          <a:ext cx="3566160" cy="173736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plan d'architecte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 / instance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maison construite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couleur, sa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ouvrir_porte()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120640" y="31546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66944" y="326440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= « l'objet lui-même »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266944" y="3557016"/>
            <a:ext cx="32735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 = « l'attribut name de CET objet ».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pet1.play(20) → Python passe pet1 comme self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 et pet2 : deux vies indépendantes issues du même moule !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" y="39502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: class Movie(Media)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3504" y="424281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L'enfant reçoit tout du parent (DRY !), ajoute ses attributs via super().__init__(), et peut REDÉFINIR une méthode (__str__, play…).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BOUCLES MALINES &amp; FONCTIONS ENVELOPPÉES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enumerate, zip… et les décorateurs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45920"/>
          </a:xfrm>
          <a:prstGeom prst="roundRect">
            <a:avLst>
              <a:gd name="adj" fmla="val 3889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rang, nom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enumerate(pilotes, start=1):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(numéro, élément) — podium dès 1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nom, temps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zip(pilotes, chronos):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listes parallèles, ensemble 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1272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zip (day4)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4198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items, prices in zip(products, prices) — la variable ÉCRASE la liste → plante à la 2e exécution ! Singulier ≠ pluriel.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1330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 :=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425696"/>
            <a:ext cx="3913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(rep := input("? ")) != "quit":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affecte ET teste d'un coup.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chrono(fonction):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reçoit 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wrapper(*args, **kw):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wrap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avant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 = fonction(*args, **kw)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après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ne pas oublier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renvoie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@chrono 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sucre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calcul_lourd(): 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décorateur = la coque de téléphone 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fonction reste intacte ; la coque ajoute des pouvoirs autour (chrono, log…). @chrono ≡ f = chrono(f). Closures + *args/**kwargs réunis !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EXERCICE : LE RÉSEAU ÉLECTRIQUE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: la recette du bon graphique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plt.figure(figsize=(10, 5))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la toile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y1,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"Solar"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marker=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les données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y2,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"Wind"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plt.title(...)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TITRER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plt.xlabel(...); plt.ylabel(...)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plt.grid(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plt.legend()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lisibilité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afficher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sans titre ni axes est ILLISIBLE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…pour les autres, et pour toi dans deux semaines. Les étapes 3-4 ne sont pas optionnelles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ce graphique : le croisement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solaire monte vers midi pendant que l'éolien faiblit → les deux sources se complètent. Un bon graphique raconte une histoire d'un coup d'œil.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EXCEL SOUS STÉROÏDES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Series, DataFrame et accès aux données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= 1 colonne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+ index. df["col"] → Series.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9806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= tableau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9806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× colonnes. df[["a","b"]] → DataFrame.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852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kit d'inspection (réflexe pro !)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3145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→ head() → info() → describe()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iloc vs loc : le piège de la borne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iloc[0:2] → 2 lignes (fin EXCLUE) ; loc[0:2] → 3 lignes (fin INCLUSE !)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"data.csv"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ligne par POSITION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df.loc[0:2,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 ÉTIQUETTE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filtre booléen (fondamental !)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df[(cond1) &amp; (cond2)]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&amp; pas 'and' 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calculées (vectorisation)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df["Bonus"] = df["Salaire"] * 0.10 — toute la colonne d'un coup, sans boucle for. Concis ET rapide.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MISSION FINALE : GALAXY QUEST OUTPOST 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groupby, valeurs manquantes et l'enquête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= split → apply → combine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df.groupby("Dept")["Salaire"].mean()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SÉPARE les lignes par catégorie  2. calcule la moyenne DANS chaque groupe  3. RASSEMBLE. L'outil analytique n°1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20624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815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NaN : détecter puis réparer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74136"/>
            <a:ext cx="39136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# compter les trous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df.fillna({"col": moyenne})  # imputer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supprime les lignes trouées (radical). La moyenne ignore les NaN automatiquement.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L'enquête Galaxy Quest (exo final)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groupby par espèce → repérer la satisfaction anormalement basse (les Droids !)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masque : (espèce coupable) &amp; (score &lt; 3.0)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extraire les noms → alerte sécurité 🚨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pro : .idxmin() donne directement l'étiquette du minimum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de day5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401421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.mean SANS parenthèses → affiche la méthode, pas le calcul ! Et « Total_Cast_With_Tax » : la coquille dans un nom de colonne = bombe à retardement.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est maîtrisé, pandas en main : place aux modèles ! Régression, classification,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arbres de décision, forêts — les notebooks S1 à S9 du dossier Machine_learning.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FONDAMENTAUX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Machine Learning en une diapo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de PROGRAMMER des règles, on montre des EXEMPLES : le modèle apprend la relation features → cible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features (entrées) · y = cible (à prédire)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8529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145536"/>
            <a:ext cx="17190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 NOMBRE.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d'une maison, ventes…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S1, S2, S4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2743200"/>
            <a:ext cx="1920240" cy="2011680"/>
          </a:xfrm>
          <a:prstGeom prst="roundRect">
            <a:avLst>
              <a:gd name="adj" fmla="val 285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98064" y="28529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98064" y="3145536"/>
            <a:ext cx="16276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une CATÉGORIE.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Survie 0/1, spam, admission…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S2_P4, S3, S4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(le même dans TOUS les notebooks)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036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1228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9632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1228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9632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1228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9632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1228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9632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S1_P1 · DATASET HOUSING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exploratoire (EDA) : comprendre avant de modéliser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: la carte d'identité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(trous ?) · mean · std (dispersion) · min/max · quartiles.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≫ médiane → distribution tirée par quelques valeurs extrêmes (classique en immobilier !).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nuage de points : 4 lectures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Tendance : les points montent → lien positif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Dispersion : à surface égale, gros écarts de prix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Éventail qui s'ouvre → moins précis sur les grandes maisons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Points isolés (outliers) → variable manquante 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linregress (scipy) : les 5 chiffres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(pente) · intercept · r (force du lien, −1 à 1) · p-value (significatif ?) · std_err (incertitude)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0.54 → r² ≈ 0.29 : la surface explique ~29 % du prix.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: le test du sceptique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46557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le lien n'existait pas, quelle proba d'observer ça par hasard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lien significatif ✓ — mais une p-value minuscule ne dit PAS que le lien est fort (ça, c'est r !).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· PRÉDIRE LE PRIX PAR LA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linéaire : trouver LA meilleure droite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a·x + 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67128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: le prix PRÉDIT (le chapeau = estimation)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: la pente — +1 m² = +a au prix (coef_)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: l'ordonnée à l'origine — l'ancrage (intercept_)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584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moindres carrés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" y="3877056"/>
            <a:ext cx="3822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choisit a et b qui MINIMISENT la somme des erreurs au carré : Σ(y − ŷ)². Le carré pénalise fort les grosses erreurs — et le problème a une solution exacte (pas de tâtonnement !).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46320" y="118872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846320" y="41148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92624" y="4224528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: lr.fit(X_train, y_train) calcule a et b → lr.coef_, lr.intercept_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→ S4 · LA RÈGLE D'OR DU 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: mémoire ≠ intelligence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de l'examen 🎓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élève qui révise les annales puis passe LE MÊME sujet aura 20/20 — a-t-il compris ou mémorisé ?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savoir : un sujet NOUVEAU. Pour un modèle : des données jamais vues = le test set.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 maisons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785616" y="3310128"/>
            <a:ext cx="786384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101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80 % — le modèle apprend ici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85616" y="3310128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l'examen final : JAMAIS touché pendant l'entraînement 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5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1463040"/>
            <a:ext cx="35112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à la main (S1_P2)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np.random.seed(32)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reproductible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np.random.choice([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"train"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p=[.8, .2])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l'outil pro (dès S2_P3)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train_test_split(df, test_size=0.2,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random_state=32)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3840480" cy="1554480"/>
          </a:xfrm>
          <a:prstGeom prst="roundRect">
            <a:avLst>
              <a:gd name="adj" fmla="val 3529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bug à ne jamais reproduire (S2_P3)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602736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MLR.fit(X_test, y_test)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entraîné sur le TEST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Évalué ensuite sur ces mêmes données → RMSE trompeuse (l'élève avec les corrigés sous les yeux). fit = TRAIN, toujours.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S1_P2, S2 · ÉVALUER UNE RÉGRESSION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RMSE : de combien le modèle se trompe-t-il 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l'erreur moyenne absolue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(1/n) Σ |y − ŷ|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 moyenne, le modèle se trompe de X millions » — intuitive, même unité que le prix, peu sensible aux extrêmes.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944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la racine de l'erreur quadratique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236976"/>
            <a:ext cx="3822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√( (1/n) Σ (y − ŷ)² 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carré fait peser LOURD les grosses erreurs (erreur 2 → 4, erreur 4 → 16). Toujours RMSE ≥ MAE ; grand écart = grosses erreurs isolées.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Symétrique : l'ordre (y, ŷ) ne change rien ici — contrairement au classification_report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juge de paix : train VS 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→ le modèle généralise ✓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≫ RMSE train → surapprentissage ⚠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 cœur sur le train, perdu à l'examen)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97180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0815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RELATIVE : le bon réflexe (S2_P2)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37413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÷ prix moyen = 1.11 / 4.56 ≈ 24 %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modèle se trompe d'environ un quart du prix » — parlant et comparable, là où « 1.11 million » seul ne dit rien.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S2_P1, S2_P2, S2_P3 · PLUS DE VARIABLES !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multiple : chaque variable son coefficient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b₂x₂ + … + bₚxₚ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214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Toutes choses égales par ailleurs 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24140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 (bedrooms) = l'effet d'UNE chambre en plus, à surface / SDB / quartier IDENTIQUES — plus subtil qu'une moyenne par groupe 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93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Multicolinéarité &amp; échelles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8561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corrélées (stories ↔ area) → coefficients instables à interpréter (les prédictions, elles, restent bonnes).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compare JAMAIS des coefficients bruts d'échelles différentes (area en m² vs prefarea 0/1)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402336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4133088"/>
            <a:ext cx="3547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data.drop("price", axis=1)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« tout sauf la cible »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· TITANIC : SURVIVRA, SURVIVRA PAS 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: classer avec des probabilités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avec une droite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… peut donner −3 ou 12… Comment lire « −3 » pour une survie 0/1 ?!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écraser le score dans [0, 1] avec la SIGMOÏDE 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P(y=1) = σ(z) = 1 / (1 + e⁻ᶻ)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6758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96849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≥ 0.5 → classe 1 (survivant) ; sinon classe 0.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très grand → σ ≈ 1 · z très négatif → σ ≈ 0 · z = 0 → 0.5. Toujours entre 0 et 1 : une vraie probabilité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8404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son nom…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2428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est un CLASSIFIEUR ! Entraînée par itérations (maximum de vraisemblance), pas par formule exacte.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S2_P4, S3 · AVANT LE MODÈLE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données : encoder, imputer, baseline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 : le texte en 0/1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("male"/"female") → sex_male (0/1)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: k valeurs → k−1 colonnes. sex_female serait redondante (= 1 − sex_male) : c'est le « dummy variable trap »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manquantes (Titanic : 263 âges !)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419856"/>
            <a:ext cx="38221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: simple, mais écrase la variance (263 passagers au même âge).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: recopie la ligne du dessus — sens pour du temporel, arbitraire ici (la médiane aurait été mieux).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métier (MBA) : NaN → "Deny" — à documenter et questionner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BASELINE : le score à battre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toujours prédire « mort » → 61.8 % d'accuracy sans RIEN apprendre.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toujours « Deny » → 85 %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modèle se juge PAR RAPPORT à cette barre — jamais dans l'absolu. Calcule-la AVANT de modéliser.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piège du « nouveau passager 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602736"/>
            <a:ext cx="3547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[[True, 28, 3, 0, 100]] dans le mauvais ordre de colonnes → le modèle lit « 28 frères à bord »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prédire avec un DataFrame nommé : pd.DataFrame([...], columns=X.columns).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→ S4 · ÉVALUER UNE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confusion, précision &amp; rappel</a:t>
            </a:r>
            <a:endParaRPr lang="en-US" sz="27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= RÉALITÉ · colonnes = PRÉDICTION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41985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diagonale = les succès. Heatmap : plus c'est foncé, plus il y a de cas.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" y="4087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DEUX métriques 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" y="437997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triche avec une seule : 100 % de précision en ne prédisant que les cas sûrs… mais rappel ridicule 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= VP / (VP + FP)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Quand le modèle dit survivant, a-t-il raison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ses alertes.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269748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2807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= VP / (VP + FN)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309981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Parmi les VRAIS survivants, combien retrouvés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capacité à ne rien rater. F1 = compromis des deux (moyenne harmonique).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46320" y="420624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92624" y="43159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classification_report(y_test, y_pred) — la RÉALITÉ d'abord !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S3_P1, S3_P3, S4_P2 · LE DATASET MBA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déséquilibrées : quand l'accuracy 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5194 « Deny » / 900 « Admit 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502152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3995928" y="1536192"/>
            <a:ext cx="576072" cy="502920"/>
          </a:xfrm>
          <a:prstGeom prst="roundRect">
            <a:avLst>
              <a:gd name="adj" fmla="val 9091"/>
            </a:avLst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85 %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95928" y="1536192"/>
            <a:ext cx="576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350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scandale silencieux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2642616"/>
            <a:ext cx="3822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idiot « toujours Deny » fait 85 % d'accuracy. La régression logistique du notebook : 84 %… PIRE que l'idiot, avec un rappel réel des admis de 3 %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balanced_accuracy : le détecteur de mensonge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059936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(rappel classe 0 + rappel classe 1) / 2 — 0.5 = hasard, 1 = parfait. LR : 0.508… démasquée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remèdes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: les erreurs sur la classe rare pèsent plus lourd à l'apprentissage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des données (sur/sous-échantillonnage)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le seuil de décision (0.5 par défaut)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par S4_P2 (arbre 2D)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class_weight : 3 % des admis détectés.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class_weight="balanced" : 90 %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prix de la précision — le curseur prudence/audace est un choix MÉTIER, pas mathématique)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S3_P3, S3_P4, S4_P1 · LES VOISINS VOTENT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: dis-moi qui te ressemble…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SANS apprentissage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Distance euclidienne du nouveau point à TOUS les points du train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Garder les k plus proches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Classification : VOTE majoritaire · Régression : MOYENNE des voisins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2186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 talon d'Achille : l'échelle !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51129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(≈600) écrase gpa (≈3) dans la distance : la « proximité » ne dépend plus que du GMAT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Remède : standardiser (StandardScaler) — non fait dans les notebooks, d'où des KNN décevants sur le spam (0.77 vs 0.92 pour la LR).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846320" y="3749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compromis biais-variance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4151376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petit → colle au bruit (surapprentissage). k grand → tout le monde vote → la baseline déguisée ! Et attention : df.idxmin() renvoie l'INDICE de ligne, pas la valeur de k (ligne 2 = k 3 !).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S3_P2, S3_P4 · DÉTECTER LE SPAM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: le pari de l'indépendance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théorème de Bayes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P(spam | mots) ∝ P(mots | spam) × P(spam)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À quel point ces caractéristiques (free !, MAJUSCULES, $) sont-elles typiques d'un spam, sachant la proportion de spams en général ? 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« naïve 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SUPPOSE les 57 caractéristiques indépendantes entre elles → la proba jointe devient un simple produit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P(x₁,…,x₅₇ | spam) ≈ Π P(xᵢ | 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en pratique (« free » et « money » vont ensemble !) mais rapide et souvent étonnamment efficace.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DUEL SUR LE SPAM (921 emails de test)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72768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10912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16184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(GaussianNB)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2999232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10912" y="3072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(k=4, sans standardisation)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30449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LR gagne ici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naïve coûte cher quand les features sont très corrélées. Aucun modèle n'est toujours le meilleur : COMPARE.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 → S4_P5 · LE JEU DES 20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de décision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17320" y="123444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732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≤ 645 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 flipH="1">
            <a:off x="123444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≤ 3.2 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H="1">
            <a:off x="2788920" y="2651760"/>
            <a:ext cx="32004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2651760"/>
            <a:ext cx="18288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310896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3108960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nœud (plot_tree / SuperTree)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· gini (0 = pur, 0.5 = doute total) · samples · value = répartition · class. Couleur intense = nœud pur.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il apprend : le Gini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 = 1 − p² − (1−p)²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nœud, l'arbre essaie TOUTES les questions et garde celle qui réduit le plus l'impureté des 2 groupes. Régression : idem avec la variance ; la feuille prédit la MOYENNE.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8346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323697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Lisible (des règles !) · insensible aux échelles (1 question = 1 variable) · non linéaire.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 : le surapprentissage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max_depth, l'arbre isole des individus (feuilles à 1 maison — vu dans la boucle depth 2→19 de S4_P5 !).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S4_P2, S4_P3 · OUVRIR LA BOÎTE NOIRE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&amp; frontière de décision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8587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L'anomalie qui en dit long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151376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à 0.09 : un NUMÉRO DE DOSSIER qui « prédit » l'admission ?! Motif accidentel → cette colonne n'aurait jamais dû entrer dans X.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frontière de décision (contourf)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 points fictifs (meshgrid) → une prédiction chacun → on COLORIE les zones de décision du plan (gmat, gpa).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 RECTANGULAIRES = signature des arbres (1 question = 1 coupe verticale ou horizontale, jamais oblique).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l'Histoire dans les données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 0.35 · sex_male 0.31 · age 0.23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a redécouvert « les femmes et les enfants d'abord » — et le privilège des 1res classes — sans jamais lire un livre d'histoire. C'est ça, le ML.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 DE TOUT LE COURS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surapprentissage : l'ennemi n°1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SOUS-APPRENTISSAGE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trop simple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trop grand · arbre depth 2 · droite sur données courbes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COMPROMIS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290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Généralise bien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· le creux de la vallée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cœur sur le train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· arbre sans limite (feuilles à 1 individu !) · test ≫ train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309360" y="3246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du modèle 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7216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garde-fous vus en cours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0142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 · comparer les DEUX erreurs · validation croisée (cv=10) · limiter la profondeur / choisir k sur courbe.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en direct dans S4_P5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014216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depth 2 → 19 : l'arbre passe de règles générales sensées à la mémorisation de maisons individuelles. Le surapprentissage, filmé !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S5_P1_FIFA, S5_P1 · LES DATASETS DU JOUR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: le multiclasse — prédire parmi 4 postes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63040"/>
          </a:xfrm>
          <a:prstGeom prst="roundRect">
            <a:avLst>
              <a:gd name="adj" fmla="val 4375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df.select_dtypes(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toutes les colonnes numériques d'un coup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'position'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].astype(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).cat.codes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Defender=0 Forward=1 Goalkeeper=2 Midfielder=3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944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4×4 raconte le football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23697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↔ Midfielder confondus, gardiens JAMAIS pris pour des attaquants — la matrice dit QUI ressemble à QUI.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Métriques multiclasses : average= obligatoire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precision_score(..., average='weighted')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…sinon ValueError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Sélection de features (le pattern pro)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L'arbre calcule feature_importances_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 garde le top 6 (contributions off./déf., créativité…)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 KNN sur 6 colonnes pertinentes → 0.89 ! Moins de dimensions = des distances qui veulent dire quelque chose.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EEG : le piège du 98 %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k=1 à 0.98 sur les ondes cérébrales… trop beau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temporelle + mélange aléatoire = le voisin le plus proche est la mesure d'à côté (fuite de données). Sur du temporel : découper par BLOCS de temps, jamais au hasard.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S6_P1 · LE SURAPPRENTISSAGE SOUS LE MICROSCOPE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mesurer le surapprentissage, puis l'élaguer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Le train plonge vers 0, le test fait un CREUX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courbes qui divergent = le surapprentissage. Meilleur max_depth = le creux du test (ici 3).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La preuve chiffrée (arbre libre)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train 0.067  vs  test 1.49 — 22× pire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niveaux, 422 feuilles ≈ une feuille par maison. Le modèle a MÉMORISÉ, il n'a pas appris.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27889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Nouvelle arme : l'élagage (ccp_alpha)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1912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cost_complexity_pruning_path : laisser l'arbre pousser puis COUPER les branches faibles. ccp_alpha règle l'agressivité — même logique de creux que max_depth.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9776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4087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: les graphiques interactifs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37997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px.line / px.bar / px.scatter · survol, zoom, hovermode='x unified'. Et .melt() → format long pour color='split'.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S6_P2, S6_P2_HOUSING · LA SAGESSE DE LA FOULE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forêts aléatoires, GridSearch &amp; SHAP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Random Forest : N arbres qui votent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voit un échantillon ALÉATOIRE (données + features) → ils se trompent différemment. La prédiction = la MOYENNE des N arbres.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individuelles s'annulent, le signal commun reste. Une foule d'experts variés bat un seul surappreneur.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CLASSEMENT FINAL SUR HOUSING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3273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Random Forest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0" y="32644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48456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366674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50792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4078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(depth optimal)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4069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53128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4480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libre (surappris)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44714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GridSearchCV : régler sans deviner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TOUTES les combinaisons d'hyperparamètres en validation croisée → best_params_ (ici max_depth=10, n_estimators=150).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scoring='neg_root_mean_squared_error' (négatif car sklearn maximise).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(moyennée sur 150 arbres)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319125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stable qu'un arbre seul : area domine largement le prix, comme tout le cours l'annonçait.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840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SHAP : expliquer CHAQUE prédiction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24281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 Shapley (théorie des jeux) : pour une maison donnée, combien chaque variable a poussé le prix ↑ ou ↓. L'explicabilité individuelle.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S7_P1, S7_P2 · LE RISQUE DE CRÉDIT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: Gradient Boosting, courbe ROC &amp; AUC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Gradient Boosting : les arbres qui se corrigent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à la forêt (parallèle), le boosting construit les arbres L'UN APRÈS L'AUTRE — chacun corrige les erreurs du précédent.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des arbres FAIBLES (max_depth 2-5) ! Un depth=30 en boosting = 27 minutes de calcul pour rien.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944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: la probabilité derrière le 0/1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23697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calcule P(défaut) ; le seuil 0.5 tranche. Mais ce seuil peut BOUGER — c'est tout l'objet de la courbe ROC.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4041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SHAP waterfall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3342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UN client : chaque variable pousse la décision vers « défaut » ou « rembourse ». Obligatoire en banque !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3840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Lire la ROC &amp; l'AUC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24281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= un seuil différent. Grimper vite vers le coin haut-gauche = bon modèle. AUC = l'aire sous la courbe : 0.5 = hasard, 1 = parfait — LA métrique du déséquilibré.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· L'APPRENTISSAGE NON SUPERVISÉ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: le clustering — découvrir des groupes sans étiquettes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monde : plus de y !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donne des données SANS réponses, et l'algorithme découvre tout seul des groupes (clusters) de points similaires. Segmentation clients, anomalies…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6700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: par CENTRES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296265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centres → chaque point rejoint le plus proche → les centres bougent → répète. Il faut choisir k, et il ne fait que des clusters RONDS.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: par DENSITÉ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15137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k à choisir ! Regroupe les points denses (eps, min_samples), marque les isolés comme BRUIT (−1), gère les formes quelconques.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🥊 Le match des « moons » (S8_P2/P3)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croissants entrelacés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les coupe de travers ❌ (blocs ronds) · DBSCAN épouse leur forme ✅ (densité)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leçon centrale : choisir l'algo selon la FORME des données.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k : coude &amp; silhouette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92624" y="323697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: l'inertie (SSE) chute puis se stabilise → k au coude. Silhouette (−1 à 1) : on prend le k qui la MAXIMISE. Iris → k=3.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en 2D : PCA &amp; t-SNE (S8_P4)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: projection linéaire (95.8 % de variance gardée sur Iris !) · t-SNE : voisinages locaux, visualisation only.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S9_P1 · LE CLUSTERING SUR LE RISQUE DE CRÉDIT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: le non supervisé face au monde réel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outillage… sur de VRAIES données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: Iris et « moons », jolis et bien séparés. S9 : 28 638 demandes de crédit, 22 colonnes.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: sans jamais lui donner la réponse, l'algo retrouve-t-il les mauvais payeurs 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898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projections pour voir 22 dimensions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19125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(linéaire) · ICA (indépendante) · t-SNE (voisinages) — et le clustering CHANGE selon la projection choisie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995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silhouette_score(..., sample_size=2000)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288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O(n²) : 11 s PAR k sur 28 638 lignes (≈3,5 min la boucle) → 4 s au total. Cherche l'option d'échantillonnage avant d'abandonner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LA leçon : DBSCAN renvoie [-1, 0]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1591056"/>
            <a:ext cx="3547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cluster + du bruit. En 22 dimensions, les vraies données forment une masse continue — pas de « vallée » de densité à couper.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les clusters KMeans ne correspondent PAS aux défauts.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un échec : le non supervisé trouve des structures GÉOMÉTRIQUES, pas la réponse qui t'intéresse.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92624" y="34015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Supervisé vs non supervisé : quand 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92624" y="3694176"/>
            <a:ext cx="3547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connais la cible (défaut) → SUPERVISÉ (S7 : AUC 0.94 ✅)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explores, tu ne sais pas quoi chercher → NON SUPERVISÉ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clustering sert à DÉCOUVRIR, pas à prédire une cible connue.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 scikit-learn et ses modèles tout faits : avec PyTorch tu construis le réseau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par brique et tu écris ta propre boucle d'entraînement. Notebook S9_P2.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S9_P2 · DEEP_LEARNING/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: tenseurs, autograd &amp; la boucle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48840"/>
          </a:xfrm>
          <a:prstGeom prst="roundRect">
            <a:avLst>
              <a:gd name="adj" fmla="val 2979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 5 LIGNES SACREES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model(batch_x)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forward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loss_fn(pred, batch_y)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l'erreur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optimizer.zero_grad()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RESET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les derivees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optimizer.step()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ajuster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6301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zero_grad() est OBLIGATOIRE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92277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ACCUMULE les gradients par défaut. Si tu l'oublies, les dérivées de tous les tours s'additionnent → l'entraînement part en vrille. L'oubli n°1 des débutants.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L'AUTOGRAD : le cœur de tout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torch.tensor(2.0, requires_grad=True)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x**2 + 3*x + 1  ;  y.backward()  →  x.grad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 = 2x+3, en x=2 → 7. PyTorch affiche 7.0 ✅ La rétropropagation, gratuitement. C'est ce qui rend le deep learning praticable (des milliards de paramètres à dériver).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0632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activation, pas de deep learning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46557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Empiler 2 couches linéaires reste LINÉAIRE. La ReLU introduit la non-linéarité — c'est elle qui permet d'apprendre des relations complexes.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41148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4224528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.to(device) : rien ne part sur le GPU tout seul — modèle ET données au même endroit !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S9_P2 · BENCHMARKS MESURÉS SUR TA MACHINE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GPU : quand il sert… et quand il RALENTIT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06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995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GPU est 4 à 7× PLUS LENT ici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288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ce n'est PAS un bug : envoyer les données vers la carte coûte plus cher que le calcul lui-même sur un modèle jouet.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GPU gagne vraiment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une multiplication de matrices 4096×4096 : ×3,6 plus rapide que le CPU.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 gagne sur les CNN (images), les transformers, les batchs ≥ 32. Un poids lourd est inutile pour livrer une lettre.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29260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0358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sur AMD : l'API garde le nom « cuda »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3284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2.9.1+rocm — ROCm imite l'API NVIDIA, donc ton code reste identique à un tuto CUDA.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9776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4087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règle à retenir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37997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.to(device) est un RÉFLEXE pour la suite, pas une optimisation pour aujourd'hui. Un modèle jouet reste sur CPU.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MUR DE LA HONTE (ON A TOUS FAIT CES ERREURS)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pièges célèbres du cours 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264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fit(X_test, y_test)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entraîné sur le test = l'élève avec les corrigés (S2_P3)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11887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4264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/>
          <p:nvPr/>
        </p:nvSpPr>
        <p:spPr>
          <a:xfrm>
            <a:off x="4791456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0368" y="12618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classification_report(y_pred, y_test)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inversé → précision et rappel ÉCHANGÉS (S3)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3408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1762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kernel qui « sauve »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supprimés mais encore en mémoire → Restart &amp; Run All ! (S3_P4)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81728" y="21031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23408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21762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/ 1e6 exécuté 2 fois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 non-idempotente → tous les résultats faussés (S1_P2)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2552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906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sur une liste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copie ! .copy() sinon modifications partagées (day2)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1728" y="30175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91456" y="32552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30906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hypot(a**2 + b**2)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hypoténuse de 767 km — vérifier la SIGNATURE (fonction?) (day1)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41696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0050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84 % sur du 85/15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que l'idiot « toujours Deny » — baseline d'abord ! (S3_P1)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81728" y="39319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91456" y="41696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30368" y="40050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idxmin() → indice, pas valeur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2 = k 3 : le meilleur k n'était pas 2 ! (S4_P1)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VOYAGE EST COMPLET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a = 3  à  model.predict(X_test)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· listes · fonctions · POO · pandas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96596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moindres carrés · MAE / RMSE · multiple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sigmoïde · confusion · précision / rappel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92608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3017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· NB · arbres · forêts · boosting · clustering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?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Standardiser (StandardScaler) · valider (cross-validation systématique) · forêts aléatoires · et toujours : baseline d'abord, Restart &amp; Run All avant de rendre 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2026-07-16T15:40:25Z</dcterms:created>
  <dcterms:modified xsi:type="dcterms:W3CDTF">2026-07-16T15:40:25Z</dcterms:modified>
</cp:coreProperties>
</file>