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Plus de variables pertinentes = moins d'erreur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test (millions)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variable
(S1_P2)</c:v>
                  </c:pt>
                  <c:pt idx="1">
                    <c:v>4 variables
(S2_P1)</c:v>
                  </c:pt>
                  <c:pt idx="2">
                    <c:v>12 variables
(S2_P2)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1.71</c:v>
                </c:pt>
                <c:pt idx="1">
                  <c:v>1.32</c:v>
                </c:pt>
                <c:pt idx="2">
                  <c:v>1.11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La sigmoïde : le score devient probabilité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σ(z)</c:v>
                </c:pt>
              </c:strCache>
            </c:strRef>
          </c:tx>
          <c:spPr>
            <a:solidFill>
              <a:srgbClr val="02C39A"/>
            </a:solidFill>
            <a:ln w="3810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-6</c:v>
                  </c:pt>
                  <c:pt idx="1">
                    <c:v>-5</c:v>
                  </c:pt>
                  <c:pt idx="2">
                    <c:v>-4</c:v>
                  </c:pt>
                  <c:pt idx="3">
                    <c:v>-3</c:v>
                  </c:pt>
                  <c:pt idx="4">
                    <c:v>-2</c:v>
                  </c:pt>
                  <c:pt idx="5">
                    <c:v>-1</c:v>
                  </c:pt>
                  <c:pt idx="6">
                    <c:v>0</c:v>
                  </c:pt>
                  <c:pt idx="7">
                    <c:v>1</c:v>
                  </c:pt>
                  <c:pt idx="8">
                    <c:v>2</c:v>
                  </c:pt>
                  <c:pt idx="9">
                    <c:v>3</c:v>
                  </c:pt>
                  <c:pt idx="10">
                    <c:v>4</c:v>
                  </c:pt>
                  <c:pt idx="11">
                    <c:v>5</c:v>
                  </c:pt>
                  <c:pt idx="12">
                    <c:v>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0.002</c:v>
                </c:pt>
                <c:pt idx="1">
                  <c:v>0.007</c:v>
                </c:pt>
                <c:pt idx="2">
                  <c:v>0.018</c:v>
                </c:pt>
                <c:pt idx="3">
                  <c:v>0.047</c:v>
                </c:pt>
                <c:pt idx="4">
                  <c:v>0.119</c:v>
                </c:pt>
                <c:pt idx="5">
                  <c:v>0.269</c:v>
                </c:pt>
                <c:pt idx="6">
                  <c:v>0.5</c:v>
                </c:pt>
                <c:pt idx="7">
                  <c:v>0.731</c:v>
                </c:pt>
                <c:pt idx="8">
                  <c:v>0.881</c:v>
                </c:pt>
                <c:pt idx="9">
                  <c:v>0.953</c:v>
                </c:pt>
                <c:pt idx="10">
                  <c:v>0.982</c:v>
                </c:pt>
                <c:pt idx="11">
                  <c:v>0.993</c:v>
                </c:pt>
                <c:pt idx="12">
                  <c:v>0.998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2 · NOTEBOOKS S2_P1 → S2_P4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multiple &amp; première classification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variables et leurs coefficients « toutes choses égales par ailleurs », puis le grand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saut : prédire une CATÉGORIE avec la régression logistique (Titanic).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S2_P1, S2_P2, S2_P3 · PLUS DE VARIABLES !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multiple : chaque variable son coefficient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b₀ + b₁x₁ + b₂x₂ + … + bₚxₚ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21214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Toutes choses égales par ailleurs »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3504" y="2414016"/>
            <a:ext cx="3822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b₂ (bedrooms) = l'effet d'UNE chambre en plus, à surface / SDB / quartier IDENTIQUES — plus subtil qu'une moyenne par groupe !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4114800" cy="1371600"/>
          </a:xfrm>
          <a:prstGeom prst="roundRect">
            <a:avLst>
              <a:gd name="adj" fmla="val 4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4930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Multicolinéarité &amp; échelles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785616"/>
            <a:ext cx="38221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corrélées (stories ↔ area) → coefficients instables à interpréter (les prédictions, elles, restent bonnes).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compare JAMAIS des coefficients bruts d'échelles différentes (area en m² vs prefarea 0/1) !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46320" y="1188720"/>
          <a:ext cx="38404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4846320" y="4023360"/>
            <a:ext cx="3840480" cy="777240"/>
          </a:xfrm>
          <a:prstGeom prst="roundRect">
            <a:avLst>
              <a:gd name="adj" fmla="val 705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4133088"/>
            <a:ext cx="35478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data.drop("price", axis=1)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méthode « tout sauf la cible »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S2_P4 · TITANIC : SURVIVRA, SURVIVRA PAS 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logistique : classer avec des probabilités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417320"/>
          </a:xfrm>
          <a:prstGeom prst="roundRect">
            <a:avLst>
              <a:gd name="adj" fmla="val 387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avec une droite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b₀ + b₁x₁ + … peut donner −3 ou 12… Comment lire « −3 » pour une survie 0/1 ?!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: écraser le score dans [0, 1] avec la SIGMOÏDE →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7432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P(y=1) = σ(z) = 1 / (1 + e⁻ᶻ)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67588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décision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968496"/>
            <a:ext cx="3822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σ(z) ≥ 0.5 → classe 1 (survivant) ; sinon classe 0.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très grand → σ ≈ 1 · z très négatif → σ ≈ 0 · z = 0 → 0.5. Toujours entre 0 et 1 : une vraie probabilité !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46320" y="1188720"/>
          <a:ext cx="38404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4846320" y="384048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3950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Malgré son nom…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992624" y="4242816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logistique est un CLASSIFIEUR ! Entraînée par itérations (maximum de vraisemblance), pas par formule exacte.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S2_P4, S3 · AVANT LE MODÈLE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les données : encoder, imputer, baseline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645920"/>
          </a:xfrm>
          <a:prstGeom prst="roundRect">
            <a:avLst>
              <a:gd name="adj" fmla="val 333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get_dummies : le texte en 0/1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sex ("male"/"female") → sex_male (0/1)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drop_first=True : k valeurs → k−1 colonnes. sex_female serait redondante (= 1 − sex_male) : c'est le « dummy variable trap » !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411480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31272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valeurs manquantes (Titanic : 263 âges !)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419856"/>
            <a:ext cx="382219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: simple, mais écrase la variance (263 passagers au même âge).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ffill : recopie la ligne du dessus — sens pour du temporel, arbitraire ici (la médiane aurait été mieux).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 métier (MBA) : NaN → "Deny" — à documenter et questionner !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1828800"/>
          </a:xfrm>
          <a:prstGeom prst="roundRect">
            <a:avLst>
              <a:gd name="adj" fmla="val 3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LA BASELINE : le score à battre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92624" y="1591056"/>
            <a:ext cx="354787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: toujours prédire « mort » → 61.8 % d'accuracy sans RIEN apprendre.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: toujours « Deny » → 85 %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modèle se juge PAR RAPPORT à cette barre — jamais dans l'absolu. Calcule-la AVANT de modéliser.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3200400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33101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 piège du « nouveau passager »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3602736"/>
            <a:ext cx="35478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[[True, 28, 3, 0, 100]] dans le mauvais ordre de colonnes → le modèle lit « 28 frères à bord »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prédire avec un DataFrame nommé : pd.DataFrame([...], columns=X.columns).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S2_P4 → S4 · ÉVALUER UNE CLASSIFICATION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confusion, précision &amp; rappel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114800" cy="15544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Prédit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Prédit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Réel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17A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Réel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17A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AF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01752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31272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= RÉALITÉ · colonnes = PRÉDICTION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3419856"/>
            <a:ext cx="3822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diagonale = les succès. Heatmap : plus c'est foncé, plus il y a de cas.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397764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3504" y="408736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DEUX métriques ?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03504" y="4379976"/>
            <a:ext cx="3822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triche avec une seule : 100 % de précision en ne prédisant que les cas sûrs… mais rappel ridicule !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118872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= VP / (VP + FP)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1591056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Quand le modèle dit survivant, a-t-il raison ? »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qualité de ses alertes.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46320" y="269748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92624" y="2807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= VP / (VP + FN)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92624" y="3099816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Parmi les VRAIS survivants, combien retrouvés ? »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capacité à ne rien rater. F1 = compromis des deux (moyenne harmonique).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46320" y="4206240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992624" y="4315968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classification_report(y_test, y_pred) — la RÉALITÉ d'abord !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séance 2 en 4 idées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multiple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coefficient par variable · RMSE 1.71 → 1.32 → 1.11 en ajoutant des features pertinentes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81728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sigmoïde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28032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σ(z) = 1/(1+e⁻ᶻ) ∈ [0,1] = une probabilité · seuil 0.5 → classe · un CLASSIFIEUR malgré son nom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les données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get_dummies(drop_first=True) · imputation (moyenne, ffill) · calculer la BASELINE d'abord (61.8 %)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confusion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28032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VP/FP/VN/FN · précision = fiabilité des alertes · rappel = ne rien rater · F1 = compromis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" y="3712464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Les pièges de la séance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" y="4005072"/>
            <a:ext cx="7936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MLR.fit(X_test, y_test) : entraîné sur le test = l'élève avec les corrigés · Y_MANUAL incomplet : 3 coefficients sur 12 → 4.4 M d'écart · prédire du neuf : toujours un DataFrame avec noms de colonnes.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&amp; IA — Le cours complet</dc:title>
  <dc:subject>PptxGenJS Presentation</dc:subject>
  <dc:creator>Cours Python &amp; IA</dc:creator>
  <cp:lastModifiedBy>Cours Python &amp; IA</cp:lastModifiedBy>
  <cp:revision>1</cp:revision>
  <dcterms:created xsi:type="dcterms:W3CDTF">2026-07-15T18:13:11Z</dcterms:created>
  <dcterms:modified xsi:type="dcterms:W3CDTF">2026-07-15T18:13:11Z</dcterms:modified>
</cp:coreProperties>
</file>