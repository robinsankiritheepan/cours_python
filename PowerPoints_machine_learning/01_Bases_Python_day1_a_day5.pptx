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(kW)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75</c:v>
                </c:pt>
                <c:pt idx="2">
                  <c:v>120</c:v>
                </c:pt>
                <c:pt idx="3">
                  <c:v>155</c:v>
                </c:pt>
                <c:pt idx="4">
                  <c:v>180</c:v>
                </c:pt>
                <c:pt idx="5">
                  <c:v>165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(kW)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95</c:v>
                </c:pt>
                <c:pt idx="2">
                  <c:v>80</c:v>
                </c:pt>
                <c:pt idx="3">
                  <c:v>65</c:v>
                </c:pt>
                <c:pt idx="4">
                  <c:v>50</c:v>
                </c:pt>
                <c:pt idx="5">
                  <c:v>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A35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NOTEBOOKS DAY1 → DAY5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de Python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opérateurs, erreurs, chaînes, listes, fonctions, POO, décorateurs,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et pandas — tout le socle avant l'IA. Chaque diapo renvoie au notebook où tu pratiques.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NOTEBOOK JUPYTER_NOTEBOOK/DAY1.IPYNB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 &amp; variables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92024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-42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entier, sans virgule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à virgule (3.0 est un float 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ou faux (majuscule obligatoire)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entre guillemets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4472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L'affectation  a =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73989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 : le NOM de la boîte. À droite : la VALEUR rangée dedans.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devine le type tout seul — et type(a) te le révèle.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 confonds pas  =  (affecter) et  ==  (comparer) !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2240280"/>
          </a:xfrm>
          <a:prstGeom prst="roundRect">
            <a:avLst>
              <a:gd name="adj" fmla="val 285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Shape 7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2" name="Text 9"/>
          <p:cNvSpPr/>
          <p:nvPr/>
        </p:nvSpPr>
        <p:spPr>
          <a:xfrm>
            <a:off x="5010912" y="1463040"/>
            <a:ext cx="35112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(type(a))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2.1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(type(b))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(type(c))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61188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du notebook 🔎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01421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day1, l'exercice du cercle définit PI mais utilise pi : ça n'a marché que grâce au kernel ! Un notebook correct doit passer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EXERCICES : CERCLE, CLÔTURES, ENTREPÔT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opérateurs : arithmétique, comparaison, logique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7830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vraie (toujours float)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 →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entière (quotient)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// 5 →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(le reste)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17 % 5 →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3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3101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star :  //  et  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60273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de boîtes pleines, et combien il reste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57839 // 13 → 4449   ·   57839 % 13 → 2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plafond sans ceil :  -(-a // b)  (exo clôtures !)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→ booléen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&gt;   &lt;=   &gt;=   ==   !=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&gt;= 3.5  renvoie True ou False — directement utilisable dans un if ou rangeable dans une variable.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and, or, not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: les DEUX vraies  ·  or : AU MOINS une  ·  not : inverse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not &gt; and &gt; or.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 bourse : (gpa≥3.5 and assid&gt;80) or (assid==100 and gpa&gt;2)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DÉMOS D'ERREURS VOLONTAIRES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&amp; exceptions : lire, comprendre, gérer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80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 comprend pas le code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eq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93976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854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incompatibles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"hello"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inconnue (faute de frappe !)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04488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zéro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/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a /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ZeroDivisionError: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0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b vaut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-1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 autre 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renvoie TOUJOURS du texte 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message d'erreur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405993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 : la dernière ligne donne le type et la cause ; la flèche au-dessus montre la ligne fautive. C'est la compétence n°1 du programmeur 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MATH, TIME, DATETIME, FICHIERS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bibliothèques standard essentielles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π √ sin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m.pi, m.sqrt, m.hypot(a,b), m.radians (trigo = RADIANS !), ceil = plafond.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958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perf_counter()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code …  puis end − start = durée. sleep(n) met en pause.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2984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 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1591056"/>
            <a:ext cx="2084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strptime(txt, "%Y, %H:%M")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→ date ; date2 − date1 = durée (timedelta).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480560" cy="1691640"/>
          </a:xfrm>
          <a:prstGeom prst="roundRect">
            <a:avLst>
              <a:gd name="adj" fmla="val 3784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" y="318211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18211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18211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37560"/>
            <a:ext cx="41513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lecture : fermé automatiquement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print(next(f))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"w" EFFACE tout, "a"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dad"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063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3172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vus dans day1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6944" y="3465576"/>
            <a:ext cx="32735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hypot(3.34**2 + 876**2) → 767 km d'hypoténuse ! hypot attend les DEUX côtés : hypot(3.34, 876).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file.close (sans parenthèses) ne ferme RIEN — on mentionne la fonction au lieu de l'appeler.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· SECTIONS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: if / elif / else, match, ternaire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10: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"Station-service VITE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30: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"Niveau bas..."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"Tout va bien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SEUL bloc s'exécute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PREMIER vrai gagne.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≠ deux if séparés !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de day1_2 : remplacer if/elif par deux if indépendants → à 5 %, DEUX messages s'affichent au lieu d'un.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« teste SEULEMENT si les précédents étaient faux ».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 (Python 3.10+)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UNE valeur à plusieurs motifs ; case _ = joker (comme else).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ternaire + f-strings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"Oui" if age &gt;= 18 else "Non"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f"{gpa:.3f}" → 3 décimales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fait le bloc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Deux-points « : » puis 4 espaces — en Python, l'indentation N'EST PAS décorative : c'est elle qui délimite le bloc 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 DNI ESPAGNOL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chaînes : index, slicing,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15568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82496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82496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496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82496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249424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9424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9424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16352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6352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16352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1856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fin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" y="2624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: a[début:fin]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" y="291693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INCLUS, fin EXCLUE !  a[0:3] → "hel" (3 lettres)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a[-2:] → "lo"  ·  longueur = fin − début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Les chaînes sont IMMUTABLES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a[0] = 'p' → TypeError ! On ne modifie jamais une chaîne : on en crée une nouvelle (a.upper() renvoie du neuf).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188720"/>
            <a:ext cx="384048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1463040"/>
            <a:ext cx="35112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a,b,c  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brut.strip()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enlève espaces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['a','b','c']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| 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.join(liste)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"a | b | c"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nettoyer → découper → recoller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pipeline de la data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7472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92624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 les valeurs, is l'identité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92624" y="3877056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teste « même objet en mémoire » — piégeux (interning). Utilise == pour comparer ; is seulement pour x is None.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LE PIÈGE N°1 DE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: mutables… et partagées 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 →  DEUX noms, UNE seule liste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600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1664208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1051560" y="1965960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via a…  b le voit aussi ! (et inversement)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a.copy()  →  DEUX listes indépendantes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" y="422452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fonctions aussi : n.append(4) modifie l'original, pas n = [...]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PAS une copie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3] ?!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vraie copie ✓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a.append(6)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a.extend(b)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déverse b dans 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&amp; tuples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05993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liste.sort() trie SUR PLACE (renvoie None !) ; sorted(liste) renvoie du neuf.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(1,2,3) = liste verrouillée (immutable) — pour les données à protéger.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LA RECHERCHE BINAIRE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for / while &amp; list comprehensions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range(10):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à 9 (10 exclu)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!= secret: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tant que...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 la boucle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saute au tour suivant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dichotomie (exo du nombre secret)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Deviner le MILIEU, éliminer la moitié à chaque essai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milliards de possibilités → trouvé en 32 essais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log₂(2³²) = 32 — ta première leçon de complexité algorithmique.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554480"/>
          </a:xfrm>
          <a:prstGeom prst="roundRect">
            <a:avLst>
              <a:gd name="adj" fmla="val 4118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lignes...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range(6): carres.append(x**2)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ou 1 seule (comprehension)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[x**2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x%2==0]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comprehension se LIT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332841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carré de x, pour chaque x de 0 à 5, si x est pair » — compacte, pythonique, rapide.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chrono (day2)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NÉGATIFS mesurés : end jamais re-mesuré ! Un résultat impossible = alerte bug.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EXERCICES : FACTORIELLE, FIBONACCI, CÉSAR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: le cœur de la réutilisation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factorial(n):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&lt;= 1: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 de base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factorial(n-1)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récursif = s'appelle soi-même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cas de base → RecursionError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f(n=5): ...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 par défaut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multiples &amp; dépaquetage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nom, initiale, longueur  → un tuple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i, l = f("oriol")  → trois variables d'un coup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: 2 styles, 1 leçon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Récursif : élégant mais recalcule tout (exponentiel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Itératif : 2 variables qui glissent — linéaire, rapide.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beauté a parfois un coût : connais les deux.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: la mini-fonction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= lambda x: 2*x — jetable, parfaite en argument d'une autre fonction (higher-order).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: l'usine à fonctions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make_multiplier(2) fabrique une fonction qui SE SOUVIENT de x=2. Base des décorateurs (day4) 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LES NOMBRES PREMIERS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: yield, la production à la demande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pairs(fin):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&lt; fin: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livre... et PAUSE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+= 2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reprend ICI ensuite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pairs(100):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0,2,4,...,98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yield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: renvoie UNE valeur, la fonction est FINIE.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: livre une valeur puis SE FIGE — prête à reprendre pour livrer la suivante.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jamais toute la liste en mémoire : des millions de valeurs sans saturer la RAM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aussi est « paresseux 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range(1_000_000_000) ne crée pas un milliard de nombres — il les fournit un à un pendant la boucle. C'est la « lazy evaluation ».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Le générateur infini de day2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23697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prime_numbers() sans limite → la boucle for ne s'arrête JAMAIS (il a fallu stopper le kernel : KeyboardInterrupt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générateur infini est un outil puissant… à consommer avec une limite ou un break.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classique : tester les diviseurs jusqu'à √n seulement.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EXERCICES : LE JOUEUR, LE COMPTEUR DE FRUITS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: la structure clé → valeur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 =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"Apollo"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"equipage"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"glace"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"O2"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accès par CLÉ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k, v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vaisseau.items():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parcours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pattern compteur (à vie !)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d[fruit] = d.get(fruit, 0) + 1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prends le compte actuel (ou 0 si première fois) et ajoute 1 » — tu compteras des choses toute ta vie de data scientist.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.get(clé, défaut)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SANS crash si la clé manque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.pop(clé)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+ récupérer la 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.items()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paires (clé, valeur) — pour boucler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.update(d2)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fusionner (écrase les clés communes)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.keys() / .values()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clés / valeurs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033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13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règles des clés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056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 · immutables (str, nombre, tuple — pas de liste !) · les valeurs, elles, peuvent être n'importe quoi.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FONCTIONS FLEXIBLES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et **kwargs : accepter n'importe quoi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voyage(pays, *villes):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villes = TUPLE des extras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"Japon"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"Tokyo"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"Kyoto"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profil(nom, **infos):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infos = DICT des nommés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ville=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"Londres"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résumé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→ les arguments POSITIONNELS en plus, emballés en TUPLE.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→ les arguments NOMMÉS en plus, emballés en DICT.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secret des décorateurs (day4) et de print()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multiply_all(*nombres)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1  puis  product *= 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à 1 (élément neutre de ×) — à 0, tout produit vaudrait 0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vide géré à part : len(numbers) == 0 → 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15468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2644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POO…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55701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Jusqu'ici : des fonctions qui s'enchaînent (procédural).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regroupe données + comportements dans un MOULE : la classe. Suite → diapo suivante !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LA CLASSE VIRTUALPET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: classes, objets, attributs,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80560" cy="2468880"/>
          </a:xfrm>
          <a:prstGeom prst="roundRect">
            <a:avLst>
              <a:gd name="adj" fmla="val 259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1513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VirtualPet: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__init__(self, name):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constructeur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= 100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play(self, minutes):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méthode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-= minutes *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 = VirtualPet(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pet1.play(20)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energy : 100 → 60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88720"/>
          <a:ext cx="356616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plan d'architecte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/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maison construite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couleur, sa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ouvrir_porte()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31546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66944" y="32644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« l'objet lui-même »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66944" y="3557016"/>
            <a:ext cx="32735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« l'attribut name de CET objet ».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pet1.play(20) → Python passe pet1 comme self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 et pet2 : deux vies indépendantes issues du même moule 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" y="39502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: class Movie(Media)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3504" y="42428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reçoit tout du parent (DRY !), ajoute ses attributs via super().__init__(), et peut REDÉFINIR une méthode (__str__, play…).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BOUCLES MALINES &amp; FONCTIONS ENVELOPPÉES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zip… et les décorateurs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rang, nom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enumerate(pilotes, start=1):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(numéro, élément) — podium dès 1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nom, temps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zip(pilotes, chronos):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listes parallèles, ensemble 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1272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zip (day4)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4198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items, prices in zip(products, prices) — la variable ÉCRASE la liste → plante à la 2e exécution ! Singulier ≠ pluriel.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1330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 :=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425696"/>
            <a:ext cx="3913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(rep := input("? ")) != "quit":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affecte ET teste d'un coup.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chrono(fonction):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reçoit 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wrapper(*args, **kw):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wrap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avant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 = fonction(*args, **kw)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après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ne pas oublier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renvoie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sucre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calcul_lourd():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décorateur = la coque de téléphone 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reste intacte ; la coque ajoute des pouvoirs autour (chrono, log…). @chrono ≡ f = chrono(f). Closures + *args/**kwargs réunis 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EXERCICE : LE RÉSEAU ÉLECTRIQUE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: la recette du bon graphique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5))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la toile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y1,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"Solar"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marker=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les données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y2,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plt.title(...)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TITRER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plt.xlabel(...); plt.ylabel(...)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plt.legend()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lisibilité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afficher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sans titre ni axes est ILLISIBLE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…pour les autres, et pour toi dans deux semaines. Les étapes 3-4 ne sont pas optionnelles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ce graphique : le croisement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solaire monte vers midi pendant que l'éolien faiblit → les deux sources se complètent. Un bon graphique raconte une histoire d'un coup d'œil.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EXCEL SOUS STÉROÏDES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Series, DataFrame et accès aux données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1 colonne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+ index. df["col"] → Series.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tableau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× colonnes. df[["a","b"]] → DataFrame.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852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kit d'inspection (réflexe pro !)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3145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→ head() → info() → describe()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iloc vs loc : le piège de la borne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iloc[0:2] → 2 lignes (fin EXCLUE) ; loc[0:2] → 3 lignes (fin INCLUSE !)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"data.csv"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ligne par POSITION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 ÉTIQUETTE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filtre booléen (fondamental !)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df[(cond1) &amp; (cond2)]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&amp; pas 'and' 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calculées (vectorisation)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df["Bonus"] = df["Salaire"] * 0.10 — toute la colonne d'un coup, sans boucle for. Concis ET rapide.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MISSION FINALE : GALAXY QUEST OUTPOST 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groupby, valeurs manquantes et l'enquête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= split → apply → combine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df.groupby("Dept")["Salaire"].mean()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SÉPARE les lignes par catégorie  2. calcule la moyenne DANS chaque groupe  3. RASSEMBLE. L'outil analytique n°1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81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NaN : détecter puis réparer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74136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# compter les trous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df.fillna({"col": moyenne})  # imputer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supprime les lignes trouées (radical). La moyenne ignore les NaN automatiquement.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L'enquête Galaxy Quest (exo final)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groupby par espèce → repérer la satisfaction anormalement basse (les Droids !)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masque : (espèce coupable) &amp; (score &lt; 3.0)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extraire les noms → alerte sécurité 🚨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pro : .idxmin() donne directement l'étiquette du minimum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de day5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401421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 SANS parenthèses → affiche la méthode, pas le calcul ! Et « Total_Cast_With_Tax » : la coquille dans un nom de colonne = bombe à retardement.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Python en 4 briques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opérateurs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float / bool / str · le duo // et % · les comparaisons renvoient des booléens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MUTABLES (.copy() !) · tuples verrouillés · dictionnaires clé → valeur (.get, .items)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def/return · récursivité (cas de base !) · lambdas · générateurs yield · décorateurs = coque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DataFrame/Series · iloc (position) vs loc (étiquette) · filtres booléens · groupby · NaN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ne copie PAS une liste · file.close sans parenthèses ne ferme rien · elif ≠ deux if séparés · hypot(a, b) et non hypot(a²+b²) · un notebook correct passe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2026-07-15T18:13:11Z</dcterms:created>
  <dcterms:modified xsi:type="dcterms:W3CDTF">2026-07-15T18:13:11Z</dcterms:modified>
</cp:coreProperties>
</file>