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761"/>
                </a:solidFill>
                <a:latin typeface="Arial"/>
              </a:rPr>
              <a:t>RMSE vs max_depth : la courbe qui révèle tout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train</c:v>
                </c:pt>
              </c:strCache>
            </c:strRef>
          </c:tx>
          <c:spPr>
            <a:solidFill>
              <a:srgbClr val="5A6B8C"/>
            </a:solidFill>
            <a:ln w="31750" cap="flat">
              <a:solidFill>
                <a:srgbClr val="5A6B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A6B8C"/>
              </a:solidFill>
              <a:ln w="9525" cap="flat">
                <a:solidFill>
                  <a:srgbClr val="5A6B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6</c:v>
                  </c:pt>
                  <c:pt idx="5">
                    <c:v>8</c:v>
                  </c:pt>
                  <c:pt idx="6">
                    <c:v>10</c:v>
                  </c:pt>
                  <c:pt idx="7">
                    <c:v>15</c:v>
                  </c:pt>
                  <c:pt idx="8">
                    <c:v>20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1.6</c:v>
                </c:pt>
                <c:pt idx="1">
                  <c:v>1.4</c:v>
                </c:pt>
                <c:pt idx="2">
                  <c:v>1.28</c:v>
                </c:pt>
                <c:pt idx="3">
                  <c:v>1.15</c:v>
                </c:pt>
                <c:pt idx="4">
                  <c:v>0.81</c:v>
                </c:pt>
                <c:pt idx="5">
                  <c:v>0.5</c:v>
                </c:pt>
                <c:pt idx="6">
                  <c:v>0.3</c:v>
                </c:pt>
                <c:pt idx="7">
                  <c:v>0.1</c:v>
                </c:pt>
                <c:pt idx="8">
                  <c:v>0.07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RMSE test</c:v>
                </c:pt>
              </c:strCache>
            </c:strRef>
          </c:tx>
          <c:spPr>
            <a:solidFill>
              <a:srgbClr val="02C39A"/>
            </a:solidFill>
            <a:ln w="31750" cap="flat">
              <a:solidFill>
                <a:srgbClr val="02C3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6</c:v>
                  </c:pt>
                  <c:pt idx="5">
                    <c:v>8</c:v>
                  </c:pt>
                  <c:pt idx="6">
                    <c:v>10</c:v>
                  </c:pt>
                  <c:pt idx="7">
                    <c:v>15</c:v>
                  </c:pt>
                  <c:pt idx="8">
                    <c:v>20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1.39</c:v>
                </c:pt>
                <c:pt idx="1">
                  <c:v>1.32</c:v>
                </c:pt>
                <c:pt idx="2">
                  <c:v>1.17</c:v>
                </c:pt>
                <c:pt idx="3">
                  <c:v>1.24</c:v>
                </c:pt>
                <c:pt idx="4">
                  <c:v>1.21</c:v>
                </c:pt>
                <c:pt idx="5">
                  <c:v>1.28</c:v>
                </c:pt>
                <c:pt idx="6">
                  <c:v>1.31</c:v>
                </c:pt>
                <c:pt idx="7">
                  <c:v>1.45</c:v>
                </c:pt>
                <c:pt idx="8">
                  <c:v>1.49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A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6 · S6_P1, S6_P2 &amp; S6_P2_HOUSING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Forêts aléatoires, GridSearch &amp; SHAP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le surapprentissage (courbe train/test), l'élaguer (ccp_alpha), puis le noyer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150 arbres — et expliquer chaque prédiction avec SHAP.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S6_P1 · LE SURAPPRENTISSAGE SOUS LE MICROSCOPE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: mesurer le surapprentissage, puis l'élaguer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206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" y="408736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Le train plonge vers 0, le test fait un CREUX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03504" y="4379976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courbes qui divergent = le surapprentissage. Meilleur max_depth = le creux du test (ici 3).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846320" y="1188720"/>
            <a:ext cx="3840480" cy="1417320"/>
          </a:xfrm>
          <a:prstGeom prst="roundRect">
            <a:avLst>
              <a:gd name="adj" fmla="val 3871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La preuve chiffrée (arbre libre)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992624" y="1591056"/>
            <a:ext cx="354787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64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RMSE train 0.067  vs  test 1.49 — 22× pire !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niveaux, 422 feuilles ≈ une feuille par maison. Le modèle a MÉMORISÉ, il n'a pas appris.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46320" y="2788920"/>
            <a:ext cx="3840480" cy="1051560"/>
          </a:xfrm>
          <a:prstGeom prst="roundRect">
            <a:avLst>
              <a:gd name="adj" fmla="val 5217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92624" y="28986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Nouvelle arme : l'élagage (ccp_alpha)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992624" y="3191256"/>
            <a:ext cx="35478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cost_complexity_pruning_path : laisser l'arbre pousser puis COUPER les branches faibles. ccp_alpha règle l'agressivité — même logique de creux que max_depth.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46320" y="3977640"/>
            <a:ext cx="3840480" cy="822960"/>
          </a:xfrm>
          <a:prstGeom prst="roundRect">
            <a:avLst>
              <a:gd name="adj" fmla="val 6667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992624" y="40873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: les graphiques interactifs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992624" y="4379976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px.line / px.bar / px.scatter · survol, zoom, hovermode='x unified'. Et .melt() → format long pour color='split'.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S6_P2, S6_P2_HOUSING · LA SAGESSE DE LA FOULE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: forêts aléatoires, GridSearch &amp; SHAP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Random Forest : N arbres qui votent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91363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arbre voit un échantillon ALÉATOIRE (données + features) → ils se trompent différemment. La prédiction = la MOYENNE des N arbres.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individuelles s'annulent, le signal commun reste. Une foule d'experts variés bat un seul surappreneur.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CLASSEMENT FINAL SUR HOUSING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246120"/>
            <a:ext cx="4206240" cy="347472"/>
          </a:xfrm>
          <a:prstGeom prst="roundRect">
            <a:avLst>
              <a:gd name="adj" fmla="val 13158"/>
            </a:avLst>
          </a:prstGeom>
          <a:solidFill>
            <a:srgbClr val="EEF4FE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Random Forest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0" y="32644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48456"/>
            <a:ext cx="4206240" cy="347472"/>
          </a:xfrm>
          <a:prstGeom prst="roundRect">
            <a:avLst>
              <a:gd name="adj" fmla="val 13158"/>
            </a:avLst>
          </a:prstGeom>
          <a:solidFill>
            <a:srgbClr val="EEF4FE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" y="36758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linéaire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0" y="366674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50792"/>
            <a:ext cx="4206240" cy="347472"/>
          </a:xfrm>
          <a:prstGeom prst="roundRect">
            <a:avLst>
              <a:gd name="adj" fmla="val 13158"/>
            </a:avLst>
          </a:prstGeom>
          <a:solidFill>
            <a:srgbClr val="EEF4FE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40782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(depth optimal)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0" y="40690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1.17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453128"/>
            <a:ext cx="4206240" cy="347472"/>
          </a:xfrm>
          <a:prstGeom prst="roundRect">
            <a:avLst>
              <a:gd name="adj" fmla="val 13158"/>
            </a:avLst>
          </a:prstGeom>
          <a:solidFill>
            <a:srgbClr val="EEF4FE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" y="44805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libre (surappris)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0" y="447141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1.49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188720"/>
            <a:ext cx="3840480" cy="1417320"/>
          </a:xfrm>
          <a:prstGeom prst="roundRect">
            <a:avLst>
              <a:gd name="adj" fmla="val 3871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GridSearchCV : régler sans deviner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992624" y="1591056"/>
            <a:ext cx="354787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TOUTES les combinaisons d'hyperparamètres en validation croisée → best_params_ (ici max_depth=10, n_estimators=150).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scoring='neg_root_mean_squared_error' (négatif car sklearn maximise).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46320" y="2788920"/>
            <a:ext cx="3840480" cy="960120"/>
          </a:xfrm>
          <a:prstGeom prst="roundRect">
            <a:avLst>
              <a:gd name="adj" fmla="val 5714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92624" y="28986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feature_importances_ (moyennée sur 150 arbres)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992624" y="3191256"/>
            <a:ext cx="35478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stable qu'un arbre seul : area domine largement le prix, comme tout le cours l'annonçait.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46320" y="3840480"/>
            <a:ext cx="3840480" cy="960120"/>
          </a:xfrm>
          <a:prstGeom prst="roundRect">
            <a:avLst>
              <a:gd name="adj" fmla="val 5714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992624" y="395020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SHAP : expliquer CHAQUE prédiction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992624" y="4242816"/>
            <a:ext cx="35478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de Shapley (théorie des jeux) : pour une maison donnée, combien chaque variable a poussé le prix ↑ ou ↓. L'explicabilité individuelle.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séance 6 en 4 idées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courbe train/test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plonge vers 0, test fait un CREUX (max_depth=3) · la divergence = le surapprentissage mesuré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81728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28032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28032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arbres sur échantillons aléatoires, prédiction = MOYENNE · 0.93 : le champion du dataset Housing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03504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combinaisons en validation croisée (cv=5) · best_params_ : depth 10, 150 arbres · scoring négatif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28032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28032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de Shapley (théorie des jeux) : la contribution de CHAQUE variable à CHAQUE prédiction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02736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3504" y="3712464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Les pièges de la séance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3504" y="4005072"/>
            <a:ext cx="79369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grid_search.best n'existe pas → best_estimator_ · l'arbre libre : train 0.067 / test 1.49 (22× pire) · plus d'arbres ≠ toujours mieux (500 arbres ≈ 30 arbres : ça plafonne).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IA — Le cours complet</dc:title>
  <dc:subject>PptxGenJS Presentation</dc:subject>
  <dc:creator>Cours Python &amp; IA</dc:creator>
  <cp:lastModifiedBy>Cours Python &amp; IA</cp:lastModifiedBy>
  <cp:revision>1</cp:revision>
  <dcterms:created xsi:type="dcterms:W3CDTF">2026-07-15T18:13:12Z</dcterms:created>
  <dcterms:modified xsi:type="dcterms:W3CDTF">2026-07-15T18:13:12Z</dcterms:modified>
</cp:coreProperties>
</file>