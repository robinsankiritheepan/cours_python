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Maisons</c:v>
                </c:pt>
              </c:strCache>
            </c:strRef>
          </c:tx>
          <c:spPr>
            <a:solidFill>
              <a:srgbClr val="02C39A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4.4</c:v>
                </c:pt>
                <c:pt idx="2">
                  <c:v>4.1</c:v>
                </c:pt>
                <c:pt idx="3">
                  <c:v>5.6</c:v>
                </c:pt>
                <c:pt idx="4">
                  <c:v>5.2</c:v>
                </c:pt>
                <c:pt idx="5">
                  <c:v>6.9</c:v>
                </c:pt>
                <c:pt idx="6">
                  <c:v>6.1</c:v>
                </c:pt>
                <c:pt idx="7">
                  <c:v>7.8</c:v>
                </c:pt>
                <c:pt idx="8">
                  <c:v>7.4</c:v>
                </c:pt>
                <c:pt idx="9">
                  <c:v>9.2</c:v>
                </c:pt>
                <c:pt idx="10">
                  <c:v>8.6</c:v>
                </c:pt>
                <c:pt idx="11">
                  <c:v>10.4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Prédictions ŷ (sur la droite)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3.14</c:v>
                </c:pt>
                <c:pt idx="1">
                  <c:v>4.15</c:v>
                </c:pt>
                <c:pt idx="2">
                  <c:v>4.63</c:v>
                </c:pt>
                <c:pt idx="3">
                  <c:v>5.17</c:v>
                </c:pt>
                <c:pt idx="4">
                  <c:v>5.71</c:v>
                </c:pt>
                <c:pt idx="5">
                  <c:v>6.18</c:v>
                </c:pt>
                <c:pt idx="6">
                  <c:v>6.72</c:v>
                </c:pt>
                <c:pt idx="7">
                  <c:v>7.2</c:v>
                </c:pt>
                <c:pt idx="8">
                  <c:v>7.87</c:v>
                </c:pt>
                <c:pt idx="9">
                  <c:v>8.55</c:v>
                </c:pt>
                <c:pt idx="10">
                  <c:v>9.23</c:v>
                </c:pt>
                <c:pt idx="11">
                  <c:v>10.24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 · NOTEBOOKS S1_P1 &amp; S1_P2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 ML : la régression linéaire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exploratoire (EDA), la droite des moindres carrés, le split train/test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métriques MAE / RMSE — ton premier workflow complet de Machine Learning.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FONDAMENTAUX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Machine Learning en une diapo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PROGRAMMER des règles, on montre des EXEMPLES : le modèle apprend la relation features → cible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features (entrées) · y = cible (à prédire)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529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45536"/>
            <a:ext cx="17190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 NOMBRE.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d'une maison, ventes…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S1, S2, S4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74320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8064" y="28529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98064" y="3145536"/>
            <a:ext cx="16276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CATÉGORIE.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 0/1, spam, admission…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S2_P4, S3, S4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(le même dans TOUS les notebooks)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632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9632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9632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1228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9632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S1_P1 · DATASET HOUSING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exploratoire (EDA) : comprendre avant de modéliser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: la carte d'identité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(trous ?) · mean · std (dispersion) · min/max · quartiles.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≫ médiane → distribution tirée par quelques valeurs extrêmes (classique en immobilier !).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nuage de points : 4 lectures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Tendance : les points montent → lien positif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Dispersion : à surface égale, gros écarts de prix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Éventail qui s'ouvre → moins précis sur les grandes maisons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Points isolés (outliers) → variable manquante 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linregress (scipy) : les 5 chiffres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(pente) · intercept · r (force du lien, −1 à 1) · p-value (significatif ?) · std_err (incertitude)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0.54 → r² ≈ 0.29 : la surface explique ~29 % du prix.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: le test du sceptique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46557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le lien n'existait pas, quelle proba d'observer ça par hasard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lien significatif ✓ — mais une p-value minuscule ne dit PAS que le lien est fort (ça, c'est r !).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· PRÉDIRE LE PRIX PAR LA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linéaire : trouver LA meilleure droite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a·x +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67128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: le prix PRÉDIT (le chapeau = estimation)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la pente — +1 m² = +a au prix (coef_)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: l'ordonnée à l'origine — l'ancrage (intercept_)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584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moindres carrés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3877056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choisit a et b qui MINIMISENT la somme des erreurs au carré : Σ(y − ŷ)². Le carré pénalise fort les grosses erreurs — et le problème a une solution exacte (pas de tâtonnement !).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18872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: lr.fit(X_train, y_train) calcule a et b → lr.coef_, lr.intercept_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→ S4 · LA RÈGLE D'OR DU 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: mémoire ≠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de l'examen 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élève qui révise les annales puis passe LE MÊME sujet aura 20/20 — a-t-il compris ou mémorisé ?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savoir : un sujet NOUVEAU. Pour un modèle : des données jamais vues = le test set.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maisons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785616" y="3310128"/>
            <a:ext cx="786384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101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80 % — le modèle apprend ici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85616" y="3310128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l'examen final : JAMAIS touché pendant l'entraînement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5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463040"/>
            <a:ext cx="35112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à la main (S1_P2)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np.random.seed(32)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reproductible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np.random.choice([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p=[.8, .2])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l'outil pro (dès S2_P3)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train_test_split(df, test_size=0.2,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random_state=32)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840480" cy="1554480"/>
          </a:xfrm>
          <a:prstGeom prst="roundRect">
            <a:avLst>
              <a:gd name="adj" fmla="val 3529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bug à ne jamais reproduire (S2_P3)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602736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MLR.fit(X_test, y_test)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entraîné sur le TEST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Évalué ensuite sur ces mêmes données → RMSE trompeuse (l'élève avec les corrigés sous les yeux). fit = TRAIN, toujours.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S1_P2, S2 · ÉVALUER UNE RÉGRESSION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 : de combien le modèle se trompe-t-il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l'erreur moyenne absolue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(1/n) Σ |y − ŷ|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 moyenne, le modèle se trompe de X millions » — intuitive, même unité que le prix, peu sensible aux extrêmes.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la racine de l'erreur quadratique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822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√( (1/n) Σ (y − ŷ)² 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carré fait peser LOURD les grosses erreurs (erreur 2 → 4, erreur 4 → 16). Toujours RMSE ≥ MAE ; grand écart = grosses erreurs isolées.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Symétrique : l'ordre (y, ŷ) ne change rien ici — contrairement au classification_report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juge de paix : train VS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→ le modèle généralise ✓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≫ RMSE train → surapprentissage ⚠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 cœur sur le train, perdu à l'examen)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0815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RELATIVE : le bon réflexe (S2_P2)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37413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÷ prix moyen = 1.11 / 4.56 ≈ 24 %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modèle se trompe d'environ un quart du prix » — parlant et comparable, là où « 1.11 million » seul ne dit rien.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1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en 8 étapes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→ explorer → split → créer → fit → predict → évaluer → diagnostiquer (le même partout !)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droite ŷ = ax + 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moindres carrés : minimiser Σ(y−ŷ)² — une solution exacte, pas de tâtonnement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80-20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sur du JAMAIS VU : mémoire ≠ intelligence · seed/random_state = reproductibilité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moyenne en clair · le carré pénalise les grosses erreurs · toujours comparer train vs test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cellule price/1e6 exécutée 2 fois fausse tout · pi ≠ PI (le kernel t'a sauvé une fois, pas deux) · predict sur X_test, pas X_train · r² ≈ 0.29 : la surface n'explique que 29 % du prix.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2026-07-16T15:40:43Z</dcterms:created>
  <dcterms:modified xsi:type="dcterms:W3CDTF">2026-07-16T15:40:43Z</dcterms:modified>
</cp:coreProperties>
</file>