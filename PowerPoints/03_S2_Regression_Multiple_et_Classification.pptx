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2761"/>
                </a:solidFill>
                <a:latin typeface="Arial"/>
              </a:rPr>
              <a:t>Plus de variables pertinentes = moins d'erreur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RMSE test (millions)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 variable
(S1_P2)</c:v>
                  </c:pt>
                  <c:pt idx="1">
                    <c:v>4 variables
(S2_P1)</c:v>
                  </c:pt>
                  <c:pt idx="2">
                    <c:v>12 variables
(S2_P2)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1.71</c:v>
                </c:pt>
                <c:pt idx="1">
                  <c:v>1.32</c:v>
                </c:pt>
                <c:pt idx="2">
                  <c:v>1.11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A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A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2761"/>
                </a:solidFill>
                <a:latin typeface="Arial"/>
              </a:rPr>
              <a:t>La sigmoïde : le score devient probabilité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σ(z)</c:v>
                </c:pt>
              </c:strCache>
            </c:strRef>
          </c:tx>
          <c:spPr>
            <a:solidFill>
              <a:srgbClr val="02C39A"/>
            </a:solidFill>
            <a:ln w="38100" cap="flat">
              <a:solidFill>
                <a:srgbClr val="02C39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2C39A"/>
              </a:solidFill>
              <a:ln w="9525" cap="flat">
                <a:solidFill>
                  <a:srgbClr val="02C39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-6</c:v>
                  </c:pt>
                  <c:pt idx="1">
                    <c:v>-5</c:v>
                  </c:pt>
                  <c:pt idx="2">
                    <c:v>-4</c:v>
                  </c:pt>
                  <c:pt idx="3">
                    <c:v>-3</c:v>
                  </c:pt>
                  <c:pt idx="4">
                    <c:v>-2</c:v>
                  </c:pt>
                  <c:pt idx="5">
                    <c:v>-1</c:v>
                  </c:pt>
                  <c:pt idx="6">
                    <c:v>0</c:v>
                  </c:pt>
                  <c:pt idx="7">
                    <c:v>1</c:v>
                  </c:pt>
                  <c:pt idx="8">
                    <c:v>2</c:v>
                  </c:pt>
                  <c:pt idx="9">
                    <c:v>3</c:v>
                  </c:pt>
                  <c:pt idx="10">
                    <c:v>4</c:v>
                  </c:pt>
                  <c:pt idx="11">
                    <c:v>5</c:v>
                  </c:pt>
                  <c:pt idx="12">
                    <c:v>6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0.002</c:v>
                </c:pt>
                <c:pt idx="1">
                  <c:v>0.007</c:v>
                </c:pt>
                <c:pt idx="2">
                  <c:v>0.018</c:v>
                </c:pt>
                <c:pt idx="3">
                  <c:v>0.047</c:v>
                </c:pt>
                <c:pt idx="4">
                  <c:v>0.119</c:v>
                </c:pt>
                <c:pt idx="5">
                  <c:v>0.269</c:v>
                </c:pt>
                <c:pt idx="6">
                  <c:v>0.5</c:v>
                </c:pt>
                <c:pt idx="7">
                  <c:v>0.731</c:v>
                </c:pt>
                <c:pt idx="8">
                  <c:v>0.881</c:v>
                </c:pt>
                <c:pt idx="9">
                  <c:v>0.953</c:v>
                </c:pt>
                <c:pt idx="10">
                  <c:v>0.982</c:v>
                </c:pt>
                <c:pt idx="11">
                  <c:v>0.993</c:v>
                </c:pt>
                <c:pt idx="12">
                  <c:v>0.998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A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801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2 · NOTEBOOKS S2_P1 → S2_P4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691640"/>
            <a:ext cx="7863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Régression multiple &amp; première classification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06324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Plusieurs variables et leurs coefficients « toutes choses égales par ailleurs », puis le grand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saut : prédire une CATÉGORIE avec la régression logistique (Titanic).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S2_P1, S2_P2, S2_P3 · PLUS DE VARIABLES !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régression multiple : chaque variable son coefficient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114800" cy="640080"/>
          </a:xfrm>
          <a:prstGeom prst="roundRect">
            <a:avLst>
              <a:gd name="adj" fmla="val 8571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8872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ŷ = b₀ + b₁x₁ + b₂x₂ + … + bₚxₚ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4114800" cy="1188720"/>
          </a:xfrm>
          <a:prstGeom prst="roundRect">
            <a:avLst>
              <a:gd name="adj" fmla="val 4615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03504" y="212140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Toutes choses égales par ailleurs »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03504" y="2414016"/>
            <a:ext cx="382219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b₂ (bedrooms) = l'effet d'UNE chambre en plus, à surface / SDB / quartier IDENTIQUES — plus subtil qu'une moyenne par groupe !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3383280"/>
            <a:ext cx="4114800" cy="1371600"/>
          </a:xfrm>
          <a:prstGeom prst="roundRect">
            <a:avLst>
              <a:gd name="adj" fmla="val 4000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03504" y="349300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Multicolinéarité &amp; échelles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03504" y="3785616"/>
            <a:ext cx="382219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corrélées (stories ↔ area) → coefficients instables à interpréter (les prédictions, elles, restent bonnes).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compare JAMAIS des coefficients bruts d'échelles différentes (area en m² vs prefarea 0/1) !</a:t>
            </a:r>
            <a:endParaRPr lang="en-US" sz="105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4846320" y="1188720"/>
          <a:ext cx="384048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Shape 10"/>
          <p:cNvSpPr/>
          <p:nvPr/>
        </p:nvSpPr>
        <p:spPr>
          <a:xfrm>
            <a:off x="4846320" y="4023360"/>
            <a:ext cx="3840480" cy="777240"/>
          </a:xfrm>
          <a:prstGeom prst="roundRect">
            <a:avLst>
              <a:gd name="adj" fmla="val 7059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992624" y="4133088"/>
            <a:ext cx="354787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data.drop("price", axis=1)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méthode « tout sauf la cible »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S2_P4 · TITANIC : SURVIVRA, SURVIVRA PAS ?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régression logistique : classer avec des probabilités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114800" cy="1417320"/>
          </a:xfrm>
          <a:prstGeom prst="roundRect">
            <a:avLst>
              <a:gd name="adj" fmla="val 3871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03504" y="129844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problème avec une droite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3504" y="1591056"/>
            <a:ext cx="3822192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ŷ = b₀ + b₁x₁ + … peut donner −3 ou 12… Comment lire « −3 » pour une survie 0/1 ?!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solution : écraser le score dans [0, 1] avec la SIGMOÏDE →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2743200"/>
            <a:ext cx="4114800" cy="640080"/>
          </a:xfrm>
          <a:prstGeom prst="roundRect">
            <a:avLst>
              <a:gd name="adj" fmla="val 8571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274320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P(y=1) = σ(z) = 1 / (1 + e⁻ᶻ)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3566160"/>
            <a:ext cx="4114800" cy="1188720"/>
          </a:xfrm>
          <a:prstGeom prst="roundRect">
            <a:avLst>
              <a:gd name="adj" fmla="val 4615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03504" y="367588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décision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03504" y="3968496"/>
            <a:ext cx="382219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σ(z) ≥ 0.5 → classe 1 (survivant) ; sinon classe 0.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très grand → σ ≈ 1 · z très négatif → σ ≈ 0 · z = 0 → 0.5. Toujours entre 0 et 1 : une vraie probabilité !</a:t>
            </a:r>
            <a:endParaRPr lang="en-US" sz="105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4846320" y="1188720"/>
          <a:ext cx="384048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Shape 10"/>
          <p:cNvSpPr/>
          <p:nvPr/>
        </p:nvSpPr>
        <p:spPr>
          <a:xfrm>
            <a:off x="4846320" y="3840480"/>
            <a:ext cx="3840480" cy="914400"/>
          </a:xfrm>
          <a:prstGeom prst="roundRect">
            <a:avLst>
              <a:gd name="adj" fmla="val 600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992624" y="395020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Malgré son nom…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992624" y="4242816"/>
            <a:ext cx="3547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régression logistique est un CLASSIFIEUR ! Entraînée par itérations (maximum de vraisemblance), pas par formule exacte.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S2_P4, S3 · AVANT LE MODÈLE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Préparer les données : encoder, imputer, baseline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114800" cy="1645920"/>
          </a:xfrm>
          <a:prstGeom prst="roundRect">
            <a:avLst>
              <a:gd name="adj" fmla="val 3333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03504" y="129844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get_dummies : le texte en 0/1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3504" y="1591056"/>
            <a:ext cx="382219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sex ("male"/"female") → sex_male (0/1)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drop_first=True : k valeurs → k−1 colonnes. sex_female serait redondante (= 1 − sex_male) : c'est le « dummy variable trap » !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3017520"/>
            <a:ext cx="4114800" cy="1691640"/>
          </a:xfrm>
          <a:prstGeom prst="roundRect">
            <a:avLst>
              <a:gd name="adj" fmla="val 3243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03504" y="312724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valeurs manquantes (Titanic : 263 âges !)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03504" y="3419856"/>
            <a:ext cx="382219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Moyenne : simple, mais écrase la variance (263 passagers au même âge).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ffill : recopie la ligne du dessus — sens pour du temporel, arbitraire ici (la médiane aurait été mieux).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Hypothèses métier (MBA) : NaN → "Deny" — à documenter et questionner !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46320" y="1188720"/>
            <a:ext cx="3840480" cy="1828800"/>
          </a:xfrm>
          <a:prstGeom prst="roundRect">
            <a:avLst>
              <a:gd name="adj" fmla="val 3000"/>
            </a:avLst>
          </a:prstGeom>
          <a:solidFill>
            <a:srgbClr val="E9FA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92624" y="12984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LA BASELINE : le score à battre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992624" y="1591056"/>
            <a:ext cx="3547872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Titanic : toujours prédire « mort » → 61.8 % d'accuracy sans RIEN apprendre.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MBA : toujours « Deny » → 85 % !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modèle se juge PAR RAPPORT à cette barre — jamais dans l'absolu. Calcule-la AVANT de modéliser.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46320" y="3200400"/>
            <a:ext cx="3840480" cy="1508760"/>
          </a:xfrm>
          <a:prstGeom prst="roundRect">
            <a:avLst>
              <a:gd name="adj" fmla="val 3636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92624" y="331012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Le piège du « nouveau passager »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992624" y="3602736"/>
            <a:ext cx="3547872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[[True, 28, 3, 0, 100]] dans le mauvais ordre de colonnes → le modèle lit « 28 frères à bord » !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Toujours prédire avec un DataFrame nommé : pd.DataFrame([...], columns=X.columns).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S2_P4 → S4 · ÉVALUER UNE CLASSIFICATION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 de confusion, précision &amp; rappel</a:t>
            </a:r>
            <a:endParaRPr lang="en-US" sz="27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4114800" cy="155448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</a:tblGrid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Prédit 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Prédit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Réel 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17A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VN 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A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64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 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EA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Réel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64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FN 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17A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 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AF5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017520"/>
            <a:ext cx="4114800" cy="777240"/>
          </a:xfrm>
          <a:prstGeom prst="roundRect">
            <a:avLst>
              <a:gd name="adj" fmla="val 7059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03504" y="312724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Lignes = RÉALITÉ · colonnes = PRÉDICTION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03504" y="3419856"/>
            <a:ext cx="382219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diagonale = les succès. Heatmap : plus c'est foncé, plus il y a de cas.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57200" y="3977640"/>
            <a:ext cx="4114800" cy="777240"/>
          </a:xfrm>
          <a:prstGeom prst="roundRect">
            <a:avLst>
              <a:gd name="adj" fmla="val 7059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03504" y="408736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DEUX métriques ?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03504" y="4379976"/>
            <a:ext cx="382219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triche avec une seule : 100 % de précision en ne prédisant que les cas sûrs… mais rappel ridicule !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846320" y="1188720"/>
            <a:ext cx="3840480" cy="1371600"/>
          </a:xfrm>
          <a:prstGeom prst="roundRect">
            <a:avLst>
              <a:gd name="adj" fmla="val 400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992624" y="12984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Précision = VP / (VP + FP)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992624" y="1591056"/>
            <a:ext cx="354787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i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Quand le modèle dit survivant, a-t-il raison ? »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qualité de ses alertes.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846320" y="2697480"/>
            <a:ext cx="3840480" cy="1371600"/>
          </a:xfrm>
          <a:prstGeom prst="roundRect">
            <a:avLst>
              <a:gd name="adj" fmla="val 400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992624" y="280720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Rappel = VP / (VP + FN)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4992624" y="3099816"/>
            <a:ext cx="354787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i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Parmi les VRAIS survivants, combien retrouvés ? »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capacité à ne rien rater. F1 = compromis des deux (moyenne harmonique).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846320" y="4206240"/>
            <a:ext cx="3840480" cy="548640"/>
          </a:xfrm>
          <a:prstGeom prst="roundRect">
            <a:avLst>
              <a:gd name="adj" fmla="val 10000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4992624" y="4315968"/>
            <a:ext cx="3547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50" b="1" dirty="0">
                <a:solidFill>
                  <a:srgbClr val="D645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classification_report(y_test, y_pred) — la RÉALITÉ d'abord !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RETENIR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séance 2 en 4 idées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41648" cy="1078992"/>
          </a:xfrm>
          <a:prstGeom prst="roundRect">
            <a:avLst>
              <a:gd name="adj" fmla="val 5085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03504" y="12984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Régression multiple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3504" y="1591056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coefficient par variable · RMSE 1.71 → 1.32 → 1.11 en ajoutant des features pertinentes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681728" y="1188720"/>
            <a:ext cx="4041648" cy="1078992"/>
          </a:xfrm>
          <a:prstGeom prst="roundRect">
            <a:avLst>
              <a:gd name="adj" fmla="val 5085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28032" y="12984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sigmoïde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828032" y="1591056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σ(z) = 1/(1+e⁻ᶻ) ∈ [0,1] = une probabilité · seuil 0.5 → classe · un CLASSIFIEUR malgré son nom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395728"/>
            <a:ext cx="4041648" cy="1078992"/>
          </a:xfrm>
          <a:prstGeom prst="roundRect">
            <a:avLst>
              <a:gd name="adj" fmla="val 5085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3504" y="250545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Préparer les données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03504" y="2798064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get_dummies(drop_first=True) · imputation (moyenne, ffill) · calculer la BASELINE d'abord (61.8 %)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81728" y="2395728"/>
            <a:ext cx="4041648" cy="1078992"/>
          </a:xfrm>
          <a:prstGeom prst="roundRect">
            <a:avLst>
              <a:gd name="adj" fmla="val 5085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28032" y="250545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 de confusion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828032" y="2798064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VP/FP/VN/FN · précision = fiabilité des alertes · rappel = ne rien rater · F1 = compromis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602736"/>
            <a:ext cx="8229600" cy="960120"/>
          </a:xfrm>
          <a:prstGeom prst="roundRect">
            <a:avLst>
              <a:gd name="adj" fmla="val 5714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03504" y="3712464"/>
            <a:ext cx="7936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Les pièges de la séance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3504" y="4005072"/>
            <a:ext cx="793699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MLR.fit(X_test, y_test) : entraîné sur le test = l'élève avec les corrigés · Y_MANUAL incomplet : 3 coefficients sur 12 → 4.4 M d'écart · prédire du neuf : toujours un DataFrame avec noms de colonnes.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&amp; IA — Le cours complet</dc:title>
  <dc:subject>PptxGenJS Presentation</dc:subject>
  <dc:creator>Cours Python &amp; IA</dc:creator>
  <cp:lastModifiedBy>Cours Python &amp; IA</cp:lastModifiedBy>
  <cp:revision>1</cp:revision>
  <dcterms:created xsi:type="dcterms:W3CDTF">2026-07-14T14:38:25Z</dcterms:created>
  <dcterms:modified xsi:type="dcterms:W3CDTF">2026-07-14T14:38:25Z</dcterms:modified>
</cp:coreProperties>
</file>