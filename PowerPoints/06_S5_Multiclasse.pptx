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80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5 · S5_P1, S5_P1_FIFA &amp; S2_P1T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multiclasse : prédire parmi 4 postes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2026 : 4 classes, matrice 4×4, sélection de features par l'arbre —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l'EEG qui enseigne la fuite de données temporelle (le piège du 98 %).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S2_P4 → S4 · ÉVALUER UNE CLASSIFICATION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de confusion, précision &amp; rappel</a:t>
            </a:r>
            <a:endParaRPr lang="en-US" sz="2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4114800" cy="15544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</a:tblGrid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Prédit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Prédit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Réel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17A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VN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A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64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 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Réel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64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 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17A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A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017520"/>
            <a:ext cx="4114800" cy="777240"/>
          </a:xfrm>
          <a:prstGeom prst="roundRect">
            <a:avLst>
              <a:gd name="adj" fmla="val 7059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03504" y="312724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= RÉALITÉ · colonnes = PRÉDICTION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03504" y="3419856"/>
            <a:ext cx="38221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diagonale = les succès. Heatmap : plus c'est foncé, plus il y a de cas.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3977640"/>
            <a:ext cx="4114800" cy="777240"/>
          </a:xfrm>
          <a:prstGeom prst="roundRect">
            <a:avLst>
              <a:gd name="adj" fmla="val 7059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03504" y="4087368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DEUX métriques ?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03504" y="4379976"/>
            <a:ext cx="38221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triche avec une seule : 100 % de précision en ne prédisant que les cas sûrs… mais rappel ridicule !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846320" y="1188720"/>
            <a:ext cx="3840480" cy="1371600"/>
          </a:xfrm>
          <a:prstGeom prst="roundRect">
            <a:avLst>
              <a:gd name="adj" fmla="val 4000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92624" y="129844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Précision = VP / (VP + FP)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992624" y="1591056"/>
            <a:ext cx="35478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i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Quand le modèle dit survivant, a-t-il raison ? »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qualité de ses alertes.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46320" y="2697480"/>
            <a:ext cx="3840480" cy="1371600"/>
          </a:xfrm>
          <a:prstGeom prst="roundRect">
            <a:avLst>
              <a:gd name="adj" fmla="val 4000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992624" y="280720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= VP / (VP + FN)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992624" y="3099816"/>
            <a:ext cx="35478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i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Parmi les VRAIS survivants, combien retrouvés ? »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capacité à ne rien rater. F1 = compromis des deux (moyenne harmonique).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846320" y="4206240"/>
            <a:ext cx="3840480" cy="548640"/>
          </a:xfrm>
          <a:prstGeom prst="roundRect">
            <a:avLst>
              <a:gd name="adj" fmla="val 10000"/>
            </a:avLst>
          </a:prstGeom>
          <a:solidFill>
            <a:srgbClr val="FFF6DD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992624" y="4315968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64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classification_report(y_test, y_pred) — la RÉALITÉ d'abord !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S5_P1_FIFA, S5_P1 · LES DATASETS DU JOUR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: le multiclasse — prédire parmi 4 postes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206240" cy="1463040"/>
          </a:xfrm>
          <a:prstGeom prst="roundRect">
            <a:avLst>
              <a:gd name="adj" fmla="val 4375"/>
            </a:avLst>
          </a:prstGeom>
          <a:solidFill>
            <a:srgbClr val="141E3C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85216" y="1307592"/>
            <a:ext cx="64008" cy="64008"/>
          </a:xfrm>
          <a:prstGeom prst="ellipse">
            <a:avLst/>
          </a:prstGeom>
          <a:solidFill>
            <a:srgbClr val="E8604C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307592"/>
            <a:ext cx="64008" cy="64008"/>
          </a:xfrm>
          <a:prstGeom prst="ellipse">
            <a:avLst/>
          </a:prstGeom>
          <a:solidFill>
            <a:srgbClr val="F2B233"/>
          </a:solidFill>
          <a:ln/>
        </p:spPr>
      </p:sp>
      <p:sp>
        <p:nvSpPr>
          <p:cNvPr id="7" name="Shape 5"/>
          <p:cNvSpPr/>
          <p:nvPr/>
        </p:nvSpPr>
        <p:spPr>
          <a:xfrm>
            <a:off x="841248" y="1307592"/>
            <a:ext cx="64008" cy="64008"/>
          </a:xfrm>
          <a:prstGeom prst="ellipse">
            <a:avLst/>
          </a:prstGeom>
          <a:solidFill>
            <a:srgbClr val="5BBB63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463040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df.select_dtypes(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E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'number'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C93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toutes les colonnes numériques d'un coup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df[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E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'position'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].astype(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E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"category"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).cat.codes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C93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Defender=0 Forward=1 Goalkeeper=2 Midfielder=3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206240" cy="960120"/>
          </a:xfrm>
          <a:prstGeom prst="roundRect">
            <a:avLst>
              <a:gd name="adj" fmla="val 5714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03504" y="294436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matrice 4×4 raconte le football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03504" y="3236976"/>
            <a:ext cx="39136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 ↔ Midfielder confondus, gardiens JAMAIS pris pour des attaquants — la matrice dit QUI ressemble à QUI.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FFF6DD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3504" y="408736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Métriques multiclasses : average= obligatoire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03504" y="4379976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D645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precision_score(..., average='weighted')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64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…sinon ValueError !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46320" y="1188720"/>
            <a:ext cx="3840480" cy="1691640"/>
          </a:xfrm>
          <a:prstGeom prst="roundRect">
            <a:avLst>
              <a:gd name="adj" fmla="val 3243"/>
            </a:avLst>
          </a:prstGeom>
          <a:solidFill>
            <a:srgbClr val="E9FAF5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92624" y="129844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Sélection de features (le pattern pro)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992624" y="1591056"/>
            <a:ext cx="35478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L'arbre calcule feature_importances_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On garde le top 6 (contributions off./déf., créativité…)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Le KNN sur 6 colonnes pertinentes → 0.89 ! Moins de dimensions = des distances qui veulent dire quelque chose.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46320" y="3063240"/>
            <a:ext cx="3840480" cy="1691640"/>
          </a:xfrm>
          <a:prstGeom prst="roundRect">
            <a:avLst>
              <a:gd name="adj" fmla="val 3243"/>
            </a:avLst>
          </a:prstGeom>
          <a:solidFill>
            <a:srgbClr val="FFF6DD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92624" y="317296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EEG : le piège du 98 %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992624" y="3465576"/>
            <a:ext cx="35478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k=1 à 0.98 sur les ondes cérébrales… trop beau !</a:t>
            </a:r>
            <a:endParaRPr lang="en-US" sz="10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 temporelle + mélange aléatoire = le voisin le plus proche est la mesure d'à côté (fuite de données). Sur du temporel : découper par BLOCS de temps, jamais au hasard.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17A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séance 5 en 4 idées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4 classes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03504" y="159105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astype('category').cat.codes · codes ALPHABÉTIQUES : Defender=0, Forward=1, Goalkeeper=2, Midfielder=3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81728" y="1188720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28032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matrice 4×4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828032" y="159105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dit QUI est confondu avec QUI : Defender↔Midfielder se mélangent, les gardiens jamais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" y="25054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de features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03504" y="279806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l'arbre désigne le top 6 → le KNN grimpe à ~0.90 (k=27 trouvé par idxmax : ligne 26 = k 27 !)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81728" y="2395728"/>
            <a:ext cx="4041648" cy="1078992"/>
          </a:xfrm>
          <a:prstGeom prst="roundRect">
            <a:avLst>
              <a:gd name="adj" fmla="val 5085"/>
            </a:avLst>
          </a:prstGeom>
          <a:solidFill>
            <a:srgbClr val="EEF4FE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28032" y="25054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average= obligatoire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828032" y="279806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'weighted' ou 'macro' pour precision/recall/F1 en multiclasse — sinon ValueError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02736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FFF6DD"/>
          </a:solidFill>
          <a:ln/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03504" y="3712464"/>
            <a:ext cx="7936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Les pièges de la séance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3504" y="4005072"/>
            <a:ext cx="793699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A3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 : KNN k=1 à 0.98 = FUITE TEMPORELLE (le voisin le plus proche est la mesure d'à côté) — sur du temporel, découper par blocs de temps · l'inversion classification_report revenue sur le Naive Bayes.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&amp; IA — Le cours complet</dc:title>
  <dc:subject>PptxGenJS Presentation</dc:subject>
  <dc:creator>Cours Python &amp; IA</dc:creator>
  <cp:lastModifiedBy>Cours Python &amp; IA</cp:lastModifiedBy>
  <cp:revision>1</cp:revision>
  <dcterms:created xsi:type="dcterms:W3CDTF">2026-07-15T18:13:12Z</dcterms:created>
  <dcterms:modified xsi:type="dcterms:W3CDTF">2026-07-15T18:13:12Z</dcterms:modified>
</cp:coreProperties>
</file>