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761"/>
                </a:solidFill>
                <a:latin typeface="Arial"/>
              </a:rPr>
              <a:t>feature_importances_ (arbre MBA, S4_P2)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work_exp</c:v>
                  </c:pt>
                  <c:pt idx="1">
                    <c:v>international</c:v>
                  </c:pt>
                  <c:pt idx="2">
                    <c:v>application_id</c:v>
                  </c:pt>
                  <c:pt idx="3">
                    <c:v>gpa</c:v>
                  </c:pt>
                  <c:pt idx="4">
                    <c:v>gender</c:v>
                  </c:pt>
                  <c:pt idx="5">
                    <c:v>gmat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0.094</c:v>
                </c:pt>
                <c:pt idx="3">
                  <c:v>0.204</c:v>
                </c:pt>
                <c:pt idx="4">
                  <c:v>0.226</c:v>
                </c:pt>
                <c:pt idx="5">
                  <c:v>0.475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A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· NOTEBOOKS S4_P1 → S4_P5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de décision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des 20 questions version ML : impureté de Gini, profondeur, importance des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frontière de décision — et le KNN version régression (la vallée du meilleur k).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S4_P2 → S4_P5 · LE JEU DES 20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de décision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417320" y="1234440"/>
            <a:ext cx="2103120" cy="457200"/>
          </a:xfrm>
          <a:prstGeom prst="roundRect">
            <a:avLst>
              <a:gd name="adj" fmla="val 1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417320" y="1234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gmat ≤ 645 ?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 flipH="1">
            <a:off x="1234440" y="1691640"/>
            <a:ext cx="777240" cy="457200"/>
          </a:xfrm>
          <a:prstGeom prst="line">
            <a:avLst/>
          </a:prstGeom>
          <a:noFill/>
          <a:ln w="19050">
            <a:solidFill>
              <a:srgbClr val="5A6B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0" y="1691640"/>
            <a:ext cx="777240" cy="457200"/>
          </a:xfrm>
          <a:prstGeom prst="line">
            <a:avLst/>
          </a:prstGeom>
          <a:noFill/>
          <a:ln w="19050">
            <a:solidFill>
              <a:srgbClr val="5A6B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17556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291840" y="17556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D64550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219456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69748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 ≤ 3.2 ?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flipH="1">
            <a:off x="2788920" y="2651760"/>
            <a:ext cx="320040" cy="411480"/>
          </a:xfrm>
          <a:prstGeom prst="line">
            <a:avLst/>
          </a:prstGeom>
          <a:noFill/>
          <a:ln w="19050">
            <a:solidFill>
              <a:srgbClr val="5A6B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2651760"/>
            <a:ext cx="182880" cy="411480"/>
          </a:xfrm>
          <a:prstGeom prst="line">
            <a:avLst/>
          </a:prstGeom>
          <a:noFill/>
          <a:ln w="19050">
            <a:solidFill>
              <a:srgbClr val="5A6B8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3108960"/>
            <a:ext cx="1188720" cy="457200"/>
          </a:xfrm>
          <a:prstGeom prst="roundRect">
            <a:avLst>
              <a:gd name="adj" fmla="val 14000"/>
            </a:avLst>
          </a:prstGeom>
          <a:solidFill>
            <a:srgbClr val="D64550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86000" y="3108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0440" y="3108960"/>
            <a:ext cx="1097280" cy="457200"/>
          </a:xfrm>
          <a:prstGeom prst="roundRect">
            <a:avLst>
              <a:gd name="adj" fmla="val 14000"/>
            </a:avLst>
          </a:prstGeom>
          <a:solidFill>
            <a:srgbClr val="02C39A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20440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" y="395020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 nœud (plot_tree / SuperTree)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" y="4242816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· gini (0 = pur, 0.5 = doute total) · samples · value = répartition · class. Couleur intense = nœud pur.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46320" y="1188720"/>
            <a:ext cx="3840480" cy="1463040"/>
          </a:xfrm>
          <a:prstGeom prst="roundRect">
            <a:avLst>
              <a:gd name="adj" fmla="val 375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il apprend : le Gini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992624" y="1591056"/>
            <a:ext cx="35478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Gini = 1 − p² − (1−p)²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nœud, l'arbre essaie TOUTES les questions et garde celle qui réduit le plus l'impureté des 2 groupes. Régression : idem avec la variance ; la feuille prédit la MOYENNE.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46320" y="28346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92624" y="2944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992624" y="3236976"/>
            <a:ext cx="3547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Lisible (des règles !) · insensible aux échelles (1 question = 1 variable) · non linéaire.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3931920"/>
            <a:ext cx="3840480" cy="86868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992624" y="40416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Faiblesse : le surapprentissage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992624" y="4334256"/>
            <a:ext cx="3547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max_depth, l'arbre isole des individus (feuilles à 1 maison — vu dans la boucle depth 2→19 de S4_P5 !).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S4_P2, S4_P3 · OUVRIR LA BOÎTE NOIRE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des variables &amp; frontière de décision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1148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" y="385876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L'anomalie qui en dit long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03504" y="4151376"/>
            <a:ext cx="3822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application_id à 0.09 : un NUMÉRO DE DOSSIER qui « prédit » l'admission ?! Motif accidentel → cette colonne n'aurait jamais dû entrer dans X.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846320" y="1188720"/>
            <a:ext cx="3840480" cy="1737360"/>
          </a:xfrm>
          <a:prstGeom prst="roundRect">
            <a:avLst>
              <a:gd name="adj" fmla="val 3158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frontière de décision (contourf)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992624" y="1591056"/>
            <a:ext cx="35478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90 000 points fictifs (meshgrid) → une prédiction chacun → on COLORIE les zones de décision du plan (gmat, gpa).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Frontières RECTANGULAIRES = signature des arbres (1 question = 1 coupe verticale ou horizontale, jamais oblique).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46320" y="3108960"/>
            <a:ext cx="3840480" cy="1600200"/>
          </a:xfrm>
          <a:prstGeom prst="roundRect">
            <a:avLst>
              <a:gd name="adj" fmla="val 3429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92624" y="321868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: l'Histoire dans les données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992624" y="3511296"/>
            <a:ext cx="354787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fare 0.35 · sex_male 0.31 · age 0.23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L'arbre a redécouvert « les femmes et les enfants d'abord » — et le privilège des 1res classes — sans jamais lire un livre d'histoire. C'est ça, le ML.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DE TOUT LE COURS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surapprentissage : l'ennemi n°1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737360"/>
          </a:xfrm>
          <a:prstGeom prst="roundRect">
            <a:avLst>
              <a:gd name="adj" fmla="val 3684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SOUS-APPRENTISSAGE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trop simple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" y="193852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trop grand · arbre depth 2 · droite sur données courbes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1737360"/>
          </a:xfrm>
          <a:prstGeom prst="roundRect">
            <a:avLst>
              <a:gd name="adj" fmla="val 3684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COMPROMIS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290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Généralise bien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29000" y="193852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 ≈ RMSE train · le creux de la vallée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1737360"/>
          </a:xfrm>
          <a:prstGeom prst="roundRect">
            <a:avLst>
              <a:gd name="adj" fmla="val 3684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6364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SURAPPRENTISSAGE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6364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cœur sur le train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63640" y="193852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 · arbre sans limite (feuilles à 1 individu !) · test ≫ train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154680"/>
            <a:ext cx="7863840" cy="0"/>
          </a:xfrm>
          <a:prstGeom prst="line">
            <a:avLst/>
          </a:prstGeom>
          <a:noFill/>
          <a:ln w="19050">
            <a:solidFill>
              <a:srgbClr val="5A6B8C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30936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du modèle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3504" y="372160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garde-fous vus en cours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03504" y="4014216"/>
            <a:ext cx="3822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train/test · comparer les DEUX erreurs · validation croisée (cv=10) · limiter la profondeur / choisir k sur courbe.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46320" y="3611880"/>
            <a:ext cx="3840480" cy="1188720"/>
          </a:xfrm>
          <a:prstGeom prst="roundRect">
            <a:avLst>
              <a:gd name="adj" fmla="val 4615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92624" y="372160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 en direct dans S4_P5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92624" y="4014216"/>
            <a:ext cx="3547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depth 2 → 19 : l'arbre passe de règles générales sensées à la mémorisation de maisons individuelles. Le surapprentissage, filmé !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séance 4 en 4 idées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L'arbre de décision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binaires qui minimisent le Gini · lisible (des règles !) · surapprend sans max_depth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81728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28032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en régression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28032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= MOYENNE des k voisins · la « vallée » RMSE-vs-k → meilleur k = 3 (S4_P1)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3504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des admis : 3 % → 90 % ! · le curseur précision/rappel est un choix MÉTIER, pas mathématique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Importances &amp; frontière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28032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gmat domine (0.475) · application_id à 0.09 = signal d'alarme · frontières RECTANGULAIRES (1 question = 1 coupe)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712464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Les pièges de la séance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3504" y="4005072"/>
            <a:ext cx="79369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idxmin()/idxmax() renvoient l'INDICE de ligne, pas la valeur de k (ligne 2 = k 3 !) · l'accuracy qui monte peut cacher un rappel qui s'effondre (max_depth=5 : 0.87 d'accuracy mais 16 % de rappel).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IA — Le cours complet</dc:title>
  <dc:subject>PptxGenJS Presentation</dc:subject>
  <dc:creator>Cours Python &amp; IA</dc:creator>
  <cp:lastModifiedBy>Cours Python &amp; IA</cp:lastModifiedBy>
  <cp:revision>1</cp:revision>
  <dcterms:created xsi:type="dcterms:W3CDTF">2026-07-14T14:38:25Z</dcterms:created>
  <dcterms:modified xsi:type="dcterms:W3CDTF">2026-07-14T14:38:25Z</dcterms:modified>
</cp:coreProperties>
</file>