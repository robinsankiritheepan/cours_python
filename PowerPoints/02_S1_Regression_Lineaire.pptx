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Maisons</c:v>
                </c:pt>
              </c:strCache>
            </c:strRef>
          </c:tx>
          <c:spPr>
            <a:solidFill>
              <a:srgbClr val="02C39A"/>
            </a:solidFill>
            <a:ln>
              <a:noFill/>
            </a:ln>
            <a:effectLst/>
          </c:spPr>
          <c:marker>
            <c:symbol val="circle"/>
            <c:size val="7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30</c:v>
                </c:pt>
                <c:pt idx="1">
                  <c:v>45</c:v>
                </c:pt>
                <c:pt idx="2">
                  <c:v>52</c:v>
                </c:pt>
                <c:pt idx="3">
                  <c:v>60</c:v>
                </c:pt>
                <c:pt idx="4">
                  <c:v>68</c:v>
                </c:pt>
                <c:pt idx="5">
                  <c:v>75</c:v>
                </c:pt>
                <c:pt idx="6">
                  <c:v>83</c:v>
                </c:pt>
                <c:pt idx="7">
                  <c:v>90</c:v>
                </c:pt>
                <c:pt idx="8">
                  <c:v>100</c:v>
                </c:pt>
                <c:pt idx="9">
                  <c:v>110</c:v>
                </c:pt>
                <c:pt idx="10">
                  <c:v>120</c:v>
                </c:pt>
                <c:pt idx="11">
                  <c:v>135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4.4</c:v>
                </c:pt>
                <c:pt idx="2">
                  <c:v>4.1</c:v>
                </c:pt>
                <c:pt idx="3">
                  <c:v>5.6</c:v>
                </c:pt>
                <c:pt idx="4">
                  <c:v>5.2</c:v>
                </c:pt>
                <c:pt idx="5">
                  <c:v>6.9</c:v>
                </c:pt>
                <c:pt idx="6">
                  <c:v>6.1</c:v>
                </c:pt>
                <c:pt idx="7">
                  <c:v>7.8</c:v>
                </c:pt>
                <c:pt idx="8">
                  <c:v>7.4</c:v>
                </c:pt>
                <c:pt idx="9">
                  <c:v>9.2</c:v>
                </c:pt>
                <c:pt idx="10">
                  <c:v>8.6</c:v>
                </c:pt>
                <c:pt idx="11">
                  <c:v>10.4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Prédictions ŷ (sur la droite)</c:v>
                </c:pt>
              </c:strCache>
            </c:strRef>
          </c:tx>
          <c:spPr>
            <a:solidFill>
              <a:srgbClr val="1E2761"/>
            </a:solidFill>
            <a:ln>
              <a:noFill/>
            </a:ln>
            <a:effectLst/>
          </c:spPr>
          <c:marker>
            <c:symbol val="circle"/>
            <c:size val="7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30</c:v>
                </c:pt>
                <c:pt idx="1">
                  <c:v>45</c:v>
                </c:pt>
                <c:pt idx="2">
                  <c:v>52</c:v>
                </c:pt>
                <c:pt idx="3">
                  <c:v>60</c:v>
                </c:pt>
                <c:pt idx="4">
                  <c:v>68</c:v>
                </c:pt>
                <c:pt idx="5">
                  <c:v>75</c:v>
                </c:pt>
                <c:pt idx="6">
                  <c:v>83</c:v>
                </c:pt>
                <c:pt idx="7">
                  <c:v>90</c:v>
                </c:pt>
                <c:pt idx="8">
                  <c:v>100</c:v>
                </c:pt>
                <c:pt idx="9">
                  <c:v>110</c:v>
                </c:pt>
                <c:pt idx="10">
                  <c:v>120</c:v>
                </c:pt>
                <c:pt idx="11">
                  <c:v>135</c:v>
                </c:pt>
              </c:numCache>
            </c:numRef>
          </c:xVal>
          <c:yVal>
            <c:numRef>
              <c:f>Sheet1!$C$2:$C$13</c:f>
              <c:numCache>
                <c:formatCode>General</c:formatCode>
                <c:ptCount val="12"/>
                <c:pt idx="0">
                  <c:v>3.14</c:v>
                </c:pt>
                <c:pt idx="1">
                  <c:v>4.15</c:v>
                </c:pt>
                <c:pt idx="2">
                  <c:v>4.63</c:v>
                </c:pt>
                <c:pt idx="3">
                  <c:v>5.17</c:v>
                </c:pt>
                <c:pt idx="4">
                  <c:v>5.71</c:v>
                </c:pt>
                <c:pt idx="5">
                  <c:v>6.18</c:v>
                </c:pt>
                <c:pt idx="6">
                  <c:v>6.72</c:v>
                </c:pt>
                <c:pt idx="7">
                  <c:v>7.2</c:v>
                </c:pt>
                <c:pt idx="8">
                  <c:v>7.87</c:v>
                </c:pt>
                <c:pt idx="9">
                  <c:v>8.55</c:v>
                </c:pt>
                <c:pt idx="10">
                  <c:v>9.23</c:v>
                </c:pt>
                <c:pt idx="11">
                  <c:v>10.24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AF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1 · NOTEBOOKS S1_P1 &amp; S1_P2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le ML : la régression linéaire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L'analyse exploratoire (EDA), la droite des moindres carrés, le split train/test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les métriques MAE / RMSE — ton premier workflow complet de Machine Learning.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FONDAMENTAUX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Machine Learning en une diapo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L'idée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82219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lieu de PROGRAMMER des règles, on montre des EXEMPLES : le modèle apprend la relation features → cible tout seul.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features (entrées) · y = cible (à prédire)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2011680" cy="2011680"/>
          </a:xfrm>
          <a:prstGeom prst="roundRect">
            <a:avLst>
              <a:gd name="adj" fmla="val 272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03504" y="28529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3504" y="3145536"/>
            <a:ext cx="17190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un NOMBRE.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d'une maison, ventes…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S1, S2, S4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51760" y="2743200"/>
            <a:ext cx="1920240" cy="2011680"/>
          </a:xfrm>
          <a:prstGeom prst="roundRect">
            <a:avLst>
              <a:gd name="adj" fmla="val 285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98064" y="285292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798064" y="3145536"/>
            <a:ext cx="162763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une CATÉGORIE.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0/1, spam, admission…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S2_P4, S3, S4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WORKFLOW (le même dans TOUS les notebooks)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157276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563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30368" y="158191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12280" y="157276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1563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96328" y="158191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846320" y="239572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386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30368" y="240487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12280" y="239572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12280" y="2386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96328" y="240487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46320" y="321868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30368" y="322783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fit()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321868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6812280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196328" y="322783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predict()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846320" y="404164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4032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30368" y="405079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812280" y="404164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/>
          <p:nvPr/>
        </p:nvSpPr>
        <p:spPr>
          <a:xfrm>
            <a:off x="6812280" y="4032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96328" y="405079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Diagnostiquer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S1_P1 · DATASET HOUSING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L'analyse exploratoire (EDA) : comprendre avant de modéliser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1554480"/>
          </a:xfrm>
          <a:prstGeom prst="roundRect">
            <a:avLst>
              <a:gd name="adj" fmla="val 352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describe() : la carte d'identité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82219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(trous ?) · mean · std (dispersion) · min/max · quartiles.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≫ médiane → distribution tirée par quelques valeurs extrêmes (classique en immobilier !).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4114800" cy="1737360"/>
          </a:xfrm>
          <a:prstGeom prst="roundRect">
            <a:avLst>
              <a:gd name="adj" fmla="val 3158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03504" y="303580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nuage de points : 4 lectures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3504" y="3328416"/>
            <a:ext cx="38221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Tendance : les points montent → lien positif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Dispersion : à surface égale, gros écarts de prix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Éventail qui s'ouvre → moins précis sur les grandes maisons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Points isolés (outliers) → variable manquante 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3840480" cy="1691640"/>
          </a:xfrm>
          <a:prstGeom prst="roundRect">
            <a:avLst>
              <a:gd name="adj" fmla="val 3243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linregress (scipy) : les 5 chiffres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92624" y="1591056"/>
            <a:ext cx="35478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(pente) · intercept · r (force du lien, −1 à 1) · p-value (significatif ?) · std_err (incertitude)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≈ 0.54 → r² ≈ 0.29 : la surface explique ~29 % du prix.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46320" y="3063240"/>
            <a:ext cx="3840480" cy="1600200"/>
          </a:xfrm>
          <a:prstGeom prst="roundRect">
            <a:avLst>
              <a:gd name="adj" fmla="val 342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92624" y="31729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: le test du sceptique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992624" y="3465576"/>
            <a:ext cx="354787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Si le lien n'existait pas, quelle proba d'observer ça par hasard ? »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0.05 → lien significatif ✓ — mais une p-value minuscule ne dit PAS que le lien est fort (ça, c'est r !).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S1_P2 · PRÉDIRE LE PRIX PAR LA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régression linéaire : trouver LA meilleure droite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a·x + b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114800" cy="1234440"/>
          </a:xfrm>
          <a:prstGeom prst="roundRect">
            <a:avLst>
              <a:gd name="adj" fmla="val 4444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03504" y="2167128"/>
            <a:ext cx="382219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: le prix PRÉDIT (le chapeau = estimation)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: la pente — +1 m² = +a au prix (coef_)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: l'ordonnée à l'origine — l'ancrage (intercept_)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4114800" cy="1280160"/>
          </a:xfrm>
          <a:prstGeom prst="roundRect">
            <a:avLst>
              <a:gd name="adj" fmla="val 4286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03504" y="35844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moindres carrés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3504" y="3877056"/>
            <a:ext cx="38221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choisit a et b qui MINIMISENT la somme des erreurs au carré : Σ(y − ŷ)². Le carré pénalise fort les grosses erreurs — et le problème a une solution exacte (pas de tâtonnement !).</a:t>
            </a:r>
            <a:endParaRPr lang="en-US" sz="10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846320" y="1188720"/>
          <a:ext cx="3840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4846320" y="4114800"/>
            <a:ext cx="3840480" cy="685800"/>
          </a:xfrm>
          <a:prstGeom prst="roundRect">
            <a:avLst>
              <a:gd name="adj" fmla="val 8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992624" y="4224528"/>
            <a:ext cx="35478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sklearn : lr.fit(X_train, y_train) calcule a et b → lr.coef_, lr.intercept_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S1_P2 → S4 · LA RÈGLE D'OR DU ML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: mémoire ≠ intelligence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1554480"/>
          </a:xfrm>
          <a:prstGeom prst="roundRect">
            <a:avLst>
              <a:gd name="adj" fmla="val 352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L'analogie de l'examen 🎓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82219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élève qui révise les annales puis passe LE MÊME sujet aura 20/20 — a-t-il compris ou mémorisé ?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 savoir : un sujet NOUVEAU. Pour un modèle : des données jamais vues = le test set.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545 maisons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3310128"/>
            <a:ext cx="3291840" cy="566928"/>
          </a:xfrm>
          <a:prstGeom prst="roundRect">
            <a:avLst>
              <a:gd name="adj" fmla="val 8065"/>
            </a:avLst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3785616" y="331012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101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80 % — le modèle apprend ici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85616" y="3310128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l'examen final : JAMAIS touché pendant l'entraînement →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188720"/>
            <a:ext cx="3840480" cy="1828800"/>
          </a:xfrm>
          <a:prstGeom prst="roundRect">
            <a:avLst>
              <a:gd name="adj" fmla="val 3500"/>
            </a:avLst>
          </a:prstGeom>
          <a:solidFill>
            <a:srgbClr val="141E3C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974336" y="1307592"/>
            <a:ext cx="64008" cy="64008"/>
          </a:xfrm>
          <a:prstGeom prst="ellipse">
            <a:avLst/>
          </a:prstGeom>
          <a:solidFill>
            <a:srgbClr val="E8604C"/>
          </a:solidFill>
          <a:ln/>
        </p:spPr>
      </p:sp>
      <p:sp>
        <p:nvSpPr>
          <p:cNvPr id="15" name="Shape 13"/>
          <p:cNvSpPr/>
          <p:nvPr/>
        </p:nvSpPr>
        <p:spPr>
          <a:xfrm>
            <a:off x="5102352" y="1307592"/>
            <a:ext cx="64008" cy="64008"/>
          </a:xfrm>
          <a:prstGeom prst="ellipse">
            <a:avLst/>
          </a:prstGeom>
          <a:solidFill>
            <a:srgbClr val="F2B233"/>
          </a:solidFill>
          <a:ln/>
        </p:spPr>
      </p:sp>
      <p:sp>
        <p:nvSpPr>
          <p:cNvPr id="16" name="Shape 14"/>
          <p:cNvSpPr/>
          <p:nvPr/>
        </p:nvSpPr>
        <p:spPr>
          <a:xfrm>
            <a:off x="5230368" y="1307592"/>
            <a:ext cx="64008" cy="64008"/>
          </a:xfrm>
          <a:prstGeom prst="ellipse">
            <a:avLst/>
          </a:prstGeom>
          <a:solidFill>
            <a:srgbClr val="5BBB63"/>
          </a:solidFill>
          <a:ln/>
        </p:spPr>
      </p:sp>
      <p:sp>
        <p:nvSpPr>
          <p:cNvPr id="17" name="Text 15"/>
          <p:cNvSpPr/>
          <p:nvPr/>
        </p:nvSpPr>
        <p:spPr>
          <a:xfrm>
            <a:off x="5010912" y="1463040"/>
            <a:ext cx="351129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C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à la main (S1_P2) :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np.random.seed(32)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C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reproductible !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np.random.choice([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E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"train"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E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"test"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p=[.8, .2])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C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l'outil pro (dès S2_P3) :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train_test_split(df, test_size=0.2,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random_state=32)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46320" y="3200400"/>
            <a:ext cx="3840480" cy="1554480"/>
          </a:xfrm>
          <a:prstGeom prst="roundRect">
            <a:avLst>
              <a:gd name="adj" fmla="val 3529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92624" y="331012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LE bug à ne jamais reproduire (S2_P3)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92624" y="3602736"/>
            <a:ext cx="354787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D64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MLR.fit(X_test, y_test)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entraîné sur le TEST !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Évalué ensuite sur ces mêmes données → RMSE trompeuse (l'élève avec les corrigés sous les yeux). fit = TRAIN, toujours.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S1_P2, S2 · ÉVALUER UNE RÉGRESSION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&amp; RMSE : de combien le modèle se trompe-t-il 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1463040"/>
          </a:xfrm>
          <a:prstGeom prst="roundRect">
            <a:avLst>
              <a:gd name="adj" fmla="val 375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— l'erreur moyenne absolue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8221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MAE = (1/n) Σ |y − ŷ|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En moyenne, le modèle se trompe de X millions » — intuitive, même unité que le prix, peu sensible aux extrêmes.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1874520"/>
          </a:xfrm>
          <a:prstGeom prst="roundRect">
            <a:avLst>
              <a:gd name="adj" fmla="val 292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03504" y="294436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— la racine de l'erreur quadratique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3504" y="3236976"/>
            <a:ext cx="38221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RMSE = √( (1/n) Σ (y − ŷ)² 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carré fait peser LOURD les grosses erreurs (erreur 2 → 4, erreur 4 → 16). Toujours RMSE ≥ MAE ; grand écart = grosses erreurs isolées.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Symétrique : l'ordre (y, ŷ) ne change rien ici — contrairement au classification_report !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3840480" cy="1600200"/>
          </a:xfrm>
          <a:prstGeom prst="roundRect">
            <a:avLst>
              <a:gd name="adj" fmla="val 342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juge de paix : train VS test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92624" y="1591056"/>
            <a:ext cx="354787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 ≈ RMSE train → le modèle généralise ✓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 ≫ RMSE train → surapprentissage ⚠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 cœur sur le train, perdu à l'examen)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46320" y="2971800"/>
            <a:ext cx="3840480" cy="1737360"/>
          </a:xfrm>
          <a:prstGeom prst="roundRect">
            <a:avLst>
              <a:gd name="adj" fmla="val 3158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92624" y="308152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RELATIVE : le bon réflexe (S2_P2)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992624" y="3374136"/>
            <a:ext cx="35478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RMSE ÷ prix moyen = 1.11 / 4.56 ≈ 24 %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modèle se trompe d'environ un quart du prix » — parlant et comparable, là où « 1.11 million » seul ne dit rien.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séance 1 en 4 idées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workflow en 8 étapes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→ explorer → split → créer → fit → predict → évaluer → diagnostiquer (le même partout !)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81728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28032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droite ŷ = ax + b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28032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moindres carrés : minimiser Σ(y−ŷ)² — une solution exacte, pas de tâtonnement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80-20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03504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sur du JAMAIS VU : mémoire ≠ intelligence · seed/random_state = reproductibilité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28032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&amp; RMSE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28032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moyenne en clair · le carré pénalise les grosses erreurs · toujours comparer train vs test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02736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" y="3712464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Les pièges de la séance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3504" y="4005072"/>
            <a:ext cx="79369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cellule price/1e6 exécutée 2 fois fausse tout · pi ≠ PI (le kernel t'a sauvé une fois, pas deux) · predict sur X_test, pas X_train · r² ≈ 0.29 : la surface n'explique que 29 % du prix.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IA — Le cours complet</dc:title>
  <dc:subject>PptxGenJS Presentation</dc:subject>
  <dc:creator>Cours Python &amp; IA</dc:creator>
  <cp:lastModifiedBy>Cours Python &amp; IA</cp:lastModifiedBy>
  <cp:revision>1</cp:revision>
  <dcterms:created xsi:type="dcterms:W3CDTF">2026-07-15T18:13:11Z</dcterms:created>
  <dcterms:modified xsi:type="dcterms:W3CDTF">2026-07-15T18:13:11Z</dcterms:modified>
</cp:coreProperties>
</file>