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761"/>
                </a:solidFill>
                <a:latin typeface="Arial"/>
              </a:rPr>
              <a:t>La « vallée » : le meilleur k au creux (k=3, S4_P1)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test</c:v>
                </c:pt>
              </c:strCache>
            </c:strRef>
          </c:tx>
          <c:spPr>
            <a:solidFill>
              <a:srgbClr val="02C39A"/>
            </a:solidFill>
            <a:ln w="3175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1.42</c:v>
                </c:pt>
                <c:pt idx="1">
                  <c:v>1.28</c:v>
                </c:pt>
                <c:pt idx="2">
                  <c:v>1.216</c:v>
                </c:pt>
                <c:pt idx="3">
                  <c:v>1.24</c:v>
                </c:pt>
                <c:pt idx="4">
                  <c:v>1.27</c:v>
                </c:pt>
                <c:pt idx="5">
                  <c:v>1.31</c:v>
                </c:pt>
                <c:pt idx="6">
                  <c:v>1.33</c:v>
                </c:pt>
                <c:pt idx="7">
                  <c:v>1.36</c:v>
                </c:pt>
                <c:pt idx="8">
                  <c:v>1.38</c:v>
                </c:pt>
                <c:pt idx="9">
                  <c:v>1.41</c:v>
                </c:pt>
                <c:pt idx="10">
                  <c:v>1.43</c:v>
                </c:pt>
                <c:pt idx="11">
                  <c:v>1.45</c:v>
                </c:pt>
                <c:pt idx="12">
                  <c:v>1.46</c:v>
                </c:pt>
                <c:pt idx="13">
                  <c:v>1.48</c:v>
                </c:pt>
                <c:pt idx="14">
                  <c:v>1.49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A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3 · NOTEBOOKS S3_P1 → S3_P4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KNN, Naive Bayes &amp; classes déséquilibrées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nouveaux algorithmes — et la leçon la plus importante du cours :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85 % des exemples sont d'une seule classe, l'accuracy MENT.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S3_P1, S3_P3, S4_P2 · LE DATASET MBA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déséquilibrées : quand l'accuracy ment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: 5194 « Deny » / 900 « Admit »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36192"/>
            <a:ext cx="3502152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3995928" y="1536192"/>
            <a:ext cx="576072" cy="502920"/>
          </a:xfrm>
          <a:prstGeom prst="roundRect">
            <a:avLst>
              <a:gd name="adj" fmla="val 9091"/>
            </a:avLst>
          </a:prstGeom>
          <a:solidFill>
            <a:srgbClr val="D645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36192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85 %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95928" y="1536192"/>
            <a:ext cx="576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4114800" cy="1234440"/>
          </a:xfrm>
          <a:prstGeom prst="roundRect">
            <a:avLst>
              <a:gd name="adj" fmla="val 4444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3504" y="235000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scandale silencieux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3504" y="2642616"/>
            <a:ext cx="3822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idiot « toujours Deny » fait 85 % d'accuracy. La régression logistique du notebook : 84 %… PIRE que l'idiot, avec un rappel réel des admis de 3 % !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4114800" cy="1097280"/>
          </a:xfrm>
          <a:prstGeom prst="roundRect">
            <a:avLst>
              <a:gd name="adj" fmla="val 5000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" y="376732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balanced_accuracy : le détecteur de mensonge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3504" y="4059936"/>
            <a:ext cx="3822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(rappel classe 0 + rappel classe 1) / 2 — 0.5 = hasard, 1 = parfait. LR : 0.508… démasquée !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840480" cy="1691640"/>
          </a:xfrm>
          <a:prstGeom prst="roundRect">
            <a:avLst>
              <a:gd name="adj" fmla="val 3243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remèdes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92624" y="1591056"/>
            <a:ext cx="35478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class_weight="balanced" : les erreurs sur la classe rare pèsent plus lourd à l'apprentissage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Rééquilibrage des données (sur/sous-échantillonnage)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Déplacer le seuil de décision (0.5 par défaut)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46320" y="3063240"/>
            <a:ext cx="3840480" cy="1691640"/>
          </a:xfrm>
          <a:prstGeom prst="roundRect">
            <a:avLst>
              <a:gd name="adj" fmla="val 3243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92624" y="31729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 par S4_P2 (arbre 2D)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92624" y="3465576"/>
            <a:ext cx="35478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class_weight : 3 % des admis détectés.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class_weight="balanced" : 90 % !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 prix de la précision — le curseur prudence/audace est un choix MÉTIER, pas mathématique)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S3_P3, S3_P4, S4_P1 · LES VOISINS VOTENT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: dis-moi qui te ressemble…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1737360"/>
          </a:xfrm>
          <a:prstGeom prst="roundRect">
            <a:avLst>
              <a:gd name="adj" fmla="val 3158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L'algorithme SANS apprentissage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8221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Distance euclidienne du nouveau point à TOUS les points du train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Garder les k plus proches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Classification : VOTE majoritaire · Régression : MOYENNE des voisins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3108960"/>
            <a:ext cx="4114800" cy="1645920"/>
          </a:xfrm>
          <a:prstGeom prst="roundRect">
            <a:avLst>
              <a:gd name="adj" fmla="val 3333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" y="321868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Le talon d'Achille : l'échelle !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3504" y="3511296"/>
            <a:ext cx="38221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gmat (≈600) écrase gpa (≈3) dans la distance : la « proximité » ne dépend plus que du GMAT !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Remède : standardiser (StandardScaler) — non fait dans les notebooks, d'où des KNN décevants sur le spam (0.77 vs 0.92 pour la LR).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846320" y="118872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484632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92624" y="38587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compromis biais-variance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992624" y="4151376"/>
            <a:ext cx="3547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petit → colle au bruit (surapprentissage). k grand → tout le monde vote → la baseline déguisée ! Et attention : df.idxmin() renvoie l'INDICE de ligne, pas la valeur de k (ligne 2 = k 3 !).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S3_P2, S3_P4 · DÉTECTER LE SPAM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: le pari de l'indépendance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1554480"/>
          </a:xfrm>
          <a:prstGeom prst="roundRect">
            <a:avLst>
              <a:gd name="adj" fmla="val 352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théorème de Bayes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82219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P(spam | mots) ∝ P(mots | spam) × P(spam)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À quel point ces caractéristiques (free !, MAJUSCULES, $) sont-elles typiques d'un spam, sachant la proportion de spams en général ? »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4114800" cy="1828800"/>
          </a:xfrm>
          <a:prstGeom prst="roundRect">
            <a:avLst>
              <a:gd name="adj" fmla="val 3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" y="303580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L'hypothèse « naïve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3504" y="3328416"/>
            <a:ext cx="382219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SUPPOSE les 57 caractéristiques indépendantes entre elles → la proba jointe devient un simple produit :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P(x₁,…,x₅₇ | spam) ≈ Π P(xᵢ | spam)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en pratique (« free » et « money » vont ensemble !) mais rapide et souvent étonnamment efficace.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463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DUEL SUR LE SPAM (921 emails de test)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572768"/>
            <a:ext cx="3840480" cy="594360"/>
          </a:xfrm>
          <a:prstGeom prst="roundRect">
            <a:avLst>
              <a:gd name="adj" fmla="val 9231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10912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0" y="16184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2286000"/>
            <a:ext cx="3840480" cy="594360"/>
          </a:xfrm>
          <a:prstGeom prst="roundRect">
            <a:avLst>
              <a:gd name="adj" fmla="val 9231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10912" y="23591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(GaussianNB)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80960" y="23317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846320" y="2999232"/>
            <a:ext cx="3840480" cy="594360"/>
          </a:xfrm>
          <a:prstGeom prst="roundRect">
            <a:avLst>
              <a:gd name="adj" fmla="val 9231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10912" y="30723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(k=4, sans standardisation)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30449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846320" y="3886200"/>
            <a:ext cx="3840480" cy="868680"/>
          </a:xfrm>
          <a:prstGeom prst="roundRect">
            <a:avLst>
              <a:gd name="adj" fmla="val 6316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92624" y="399592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la LR gagne ici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992624" y="4288536"/>
            <a:ext cx="3547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L'hypothèse naïve coûte cher quand les features sont très corrélées. Aucun modèle n'est toujours le meilleur : COMPARE.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séance 3 en 4 idées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euclidienne + vote des k voisins · k petit = surapprentissage, k grand = baseline déguisée · STANDARDISER les échelles !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81728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28032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28032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+ indépendance supposée des features · rapide · battu quand elles sont corrélées (0.82 vs 0.92 pour la LR)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déséquilibre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3504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85/15 : accuracy 84 % = PIRE que « toujours Deny » · rappel réel des admis : 3 % !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balanced_accuracy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28032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moyenne des rappels par classe · 0.5 = hasard pur · le détecteur de mensonge de l'accuracy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712464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Les pièges de la séance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3504" y="4005072"/>
            <a:ext cx="79369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classification_report(y_pred, y_test) INVERSÉ → précision et rappel échangés, support faussé (23 au lieu de ~180 : la preuve !) · des imports vivant seulement dans le kernel → NameError après Restart.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IA — Le cours complet</dc:title>
  <dc:subject>PptxGenJS Presentation</dc:subject>
  <dc:creator>Cours Python &amp; IA</dc:creator>
  <cp:lastModifiedBy>Cours Python &amp; IA</cp:lastModifiedBy>
  <cp:revision>1</cp:revision>
  <dcterms:created xsi:type="dcterms:W3CDTF">2026-07-14T14:38:25Z</dcterms:created>
  <dcterms:modified xsi:type="dcterms:W3CDTF">2026-07-14T14:38:25Z</dcterms:modified>
</cp:coreProperties>
</file>